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  <p:sldMasterId id="2147483671" r:id="rId2"/>
  </p:sldMasterIdLst>
  <p:notesMasterIdLst>
    <p:notesMasterId r:id="rId26"/>
  </p:notesMasterIdLst>
  <p:sldIdLst>
    <p:sldId id="256" r:id="rId3"/>
    <p:sldId id="278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9144000" cy="5143500" type="screen16x9"/>
  <p:notesSz cx="6858000" cy="9144000"/>
  <p:embeddedFontLst>
    <p:embeddedFont>
      <p:font typeface="Montserrat" panose="020B0604020202020204" charset="0"/>
      <p:regular r:id="rId27"/>
      <p:bold r:id="rId28"/>
      <p:italic r:id="rId29"/>
      <p:boldItalic r:id="rId30"/>
    </p:embeddedFont>
    <p:embeddedFont>
      <p:font typeface="Oswald" panose="020B0604020202020204" charset="0"/>
      <p:regular r:id="rId31"/>
      <p:bold r:id="rId32"/>
    </p:embeddedFont>
    <p:embeddedFont>
      <p:font typeface="Playfair Display" panose="020B0604020202020204" charset="0"/>
      <p:regular r:id="rId33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298A04B-FCCB-42F5-947F-410B4F480092}">
  <a:tblStyle styleId="{C298A04B-FCCB-42F5-947F-410B4F48009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625" y="6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notesMaster" Target="notesMasters/notesMaster1.xml"/><Relationship Id="rId39" Type="http://schemas.openxmlformats.org/officeDocument/2006/relationships/theme" Target="theme/theme1.xml"/><Relationship Id="rId21" Type="http://schemas.openxmlformats.org/officeDocument/2006/relationships/slide" Target="slides/slide19.xml"/><Relationship Id="rId34" Type="http://schemas.openxmlformats.org/officeDocument/2006/relationships/font" Target="fonts/font8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font" Target="fonts/font7.fntdata"/><Relationship Id="rId38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font" Target="fonts/font6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font" Target="fonts/font2.fntdata"/><Relationship Id="rId36" Type="http://schemas.openxmlformats.org/officeDocument/2006/relationships/font" Target="fonts/font10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5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font" Target="fonts/font9.fntdata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6927404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f5916fc3f4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g3f5916fc3f4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863954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5916fc3f4_0_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f5916fc3f4_0_1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09144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5916fc3f4_0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f5916fc3f4_0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183266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f5916fc3f4_0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f5916fc3f4_0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63957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5916fc3f4_0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5916fc3f4_0_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10510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f5916fc3f4_0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f5916fc3f4_0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06580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f5916fc3f4_0_2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f5916fc3f4_0_2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12881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f5916fc3f4_0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f5916fc3f4_0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22242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f5916fc3f4_0_2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f5916fc3f4_0_2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54816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5916fc3f4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5916fc3f4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996842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f5916fc3f4_0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f5916fc3f4_0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00025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f5916fc3f4_0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f5916fc3f4_0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66629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f5916fc3f4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f5916fc3f4_0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47591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f5916fc3f4_0_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f5916fc3f4_0_1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8486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f5916fc3f4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f5916fc3f4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20055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f5916fc3f4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f5916fc3f4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8385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f5916fc3f4_0_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f5916fc3f4_0_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5302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f5916fc3f4_0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3f5916fc3f4_0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895247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f5916fc3f4_0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f5916fc3f4_0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43066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f5916fc3f4_0_2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f5916fc3f4_0_2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8121124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f5916fc3f4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f5916fc3f4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424919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f5916fc3f4_0_2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3f5916fc3f4_0_2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3231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/>
          <p:nvPr/>
        </p:nvSpPr>
        <p:spPr>
          <a:xfrm>
            <a:off x="4286250" y="0"/>
            <a:ext cx="723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14"/>
          <p:cNvSpPr/>
          <p:nvPr/>
        </p:nvSpPr>
        <p:spPr>
          <a:xfrm>
            <a:off x="4358475" y="0"/>
            <a:ext cx="38532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4"/>
          <p:cNvSpPr txBox="1">
            <a:spLocks noGrp="1"/>
          </p:cNvSpPr>
          <p:nvPr>
            <p:ph type="ctrTitle"/>
          </p:nvPr>
        </p:nvSpPr>
        <p:spPr>
          <a:xfrm>
            <a:off x="344250" y="1403850"/>
            <a:ext cx="8455500" cy="2146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800"/>
              <a:buFont typeface="Playfair Display"/>
              <a:buNone/>
              <a:defRPr sz="68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800"/>
              <a:buFont typeface="Playfair Display"/>
              <a:buNone/>
              <a:defRPr sz="6800" b="1"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800"/>
              <a:buFont typeface="Playfair Display"/>
              <a:buNone/>
              <a:defRPr sz="6800" b="1"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800"/>
              <a:buFont typeface="Playfair Display"/>
              <a:buNone/>
              <a:defRPr sz="6800" b="1"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800"/>
              <a:buFont typeface="Playfair Display"/>
              <a:buNone/>
              <a:defRPr sz="6800" b="1"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800"/>
              <a:buFont typeface="Playfair Display"/>
              <a:buNone/>
              <a:defRPr sz="6800" b="1"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800"/>
              <a:buFont typeface="Playfair Display"/>
              <a:buNone/>
              <a:defRPr sz="6800" b="1"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800"/>
              <a:buFont typeface="Playfair Display"/>
              <a:buNone/>
              <a:defRPr sz="6800" b="1"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800"/>
              <a:buFont typeface="Playfair Display"/>
              <a:buNone/>
              <a:defRPr sz="6800" b="1"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ubTitle" idx="1"/>
          </p:nvPr>
        </p:nvSpPr>
        <p:spPr>
          <a:xfrm>
            <a:off x="344250" y="3550650"/>
            <a:ext cx="4910100" cy="577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  <a:defRPr sz="24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  <a:defRPr sz="24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  <a:defRPr sz="24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  <a:defRPr sz="24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  <a:defRPr sz="24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  <a:defRPr sz="24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  <a:defRPr sz="24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  <a:defRPr sz="24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  <a:defRPr sz="24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body" idx="1"/>
          </p:nvPr>
        </p:nvSpPr>
        <p:spPr>
          <a:xfrm>
            <a:off x="311700" y="1234075"/>
            <a:ext cx="8520600" cy="33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4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6"/>
          <p:cNvSpPr/>
          <p:nvPr/>
        </p:nvSpPr>
        <p:spPr>
          <a:xfrm rot="5400000">
            <a:off x="4550700" y="-498600"/>
            <a:ext cx="42600" cy="8455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344250" y="1403850"/>
            <a:ext cx="8455500" cy="2146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Playfair Display"/>
              <a:buNone/>
              <a:defRPr sz="48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Playfair Display"/>
              <a:buNone/>
              <a:defRPr sz="4800" b="1"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Playfair Display"/>
              <a:buNone/>
              <a:defRPr sz="4800" b="1"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Playfair Display"/>
              <a:buNone/>
              <a:defRPr sz="4800" b="1"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Playfair Display"/>
              <a:buNone/>
              <a:defRPr sz="4800" b="1"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Playfair Display"/>
              <a:buNone/>
              <a:defRPr sz="4800" b="1"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Playfair Display"/>
              <a:buNone/>
              <a:defRPr sz="4800" b="1"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Playfair Display"/>
              <a:buNone/>
              <a:defRPr sz="4800" b="1"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Playfair Display"/>
              <a:buNone/>
              <a:defRPr sz="4800" b="1"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>
            <a:off x="311700" y="1234050"/>
            <a:ext cx="3999900" cy="33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body" idx="2"/>
          </p:nvPr>
        </p:nvSpPr>
        <p:spPr>
          <a:xfrm>
            <a:off x="4832400" y="1234050"/>
            <a:ext cx="3999900" cy="33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8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8" name="Google Shape;78;p19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0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fair Display"/>
              <a:buNone/>
              <a:defRPr sz="5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fair Display"/>
              <a:buNone/>
              <a:defRPr sz="5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fair Display"/>
              <a:buNone/>
              <a:defRPr sz="5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fair Display"/>
              <a:buNone/>
              <a:defRPr sz="5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fair Display"/>
              <a:buNone/>
              <a:defRPr sz="5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fair Display"/>
              <a:buNone/>
              <a:defRPr sz="5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fair Display"/>
              <a:buNone/>
              <a:defRPr sz="5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fair Display"/>
              <a:buNone/>
              <a:defRPr sz="5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fair Display"/>
              <a:buNone/>
              <a:defRPr sz="5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endParaRPr/>
          </a:p>
        </p:txBody>
      </p:sp>
      <p:sp>
        <p:nvSpPr>
          <p:cNvPr id="82" name="Google Shape;82;p20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1"/>
          <p:cNvSpPr/>
          <p:nvPr/>
        </p:nvSpPr>
        <p:spPr>
          <a:xfrm>
            <a:off x="4572000" y="-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" name="Google Shape;85;p21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6" name="Google Shape;86;p21"/>
          <p:cNvSpPr txBox="1">
            <a:spLocks noGrp="1"/>
          </p:cNvSpPr>
          <p:nvPr>
            <p:ph type="title"/>
          </p:nvPr>
        </p:nvSpPr>
        <p:spPr>
          <a:xfrm>
            <a:off x="265500" y="1081675"/>
            <a:ext cx="4045200" cy="17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7" name="Google Shape;87;p21"/>
          <p:cNvSpPr txBox="1">
            <a:spLocks noGrp="1"/>
          </p:cNvSpPr>
          <p:nvPr>
            <p:ph type="subTitle" idx="1"/>
          </p:nvPr>
        </p:nvSpPr>
        <p:spPr>
          <a:xfrm>
            <a:off x="265500" y="2921401"/>
            <a:ext cx="4045200" cy="134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8" name="Google Shape;88;p21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>
                <a:highlight>
                  <a:schemeClr val="lt1"/>
                </a:highlight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highlight>
                  <a:schemeClr val="lt1"/>
                </a:highlight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highlight>
                  <a:schemeClr val="lt1"/>
                </a:highlight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highlight>
                  <a:schemeClr val="lt1"/>
                </a:highlight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highlight>
                  <a:schemeClr val="lt1"/>
                </a:highlight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highlight>
                  <a:schemeClr val="lt1"/>
                </a:highlight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highlight>
                  <a:schemeClr val="lt1"/>
                </a:highlight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highlight>
                  <a:schemeClr val="lt1"/>
                </a:highlight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highlight>
                  <a:schemeClr val="lt1"/>
                </a:highlight>
              </a:defRPr>
            </a:lvl9pPr>
          </a:lstStyle>
          <a:p>
            <a:endParaRPr/>
          </a:p>
        </p:txBody>
      </p:sp>
      <p:sp>
        <p:nvSpPr>
          <p:cNvPr id="89" name="Google Shape;89;p21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2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highlight>
                  <a:schemeClr val="dk1"/>
                </a:highlight>
              </a:defRPr>
            </a:lvl1pPr>
          </a:lstStyle>
          <a:p>
            <a:endParaRPr/>
          </a:p>
        </p:txBody>
      </p:sp>
      <p:sp>
        <p:nvSpPr>
          <p:cNvPr id="92" name="Google Shape;92;p22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3"/>
          <p:cNvSpPr txBox="1">
            <a:spLocks noGrp="1"/>
          </p:cNvSpPr>
          <p:nvPr>
            <p:ph type="title" hasCustomPrompt="1"/>
          </p:nvPr>
        </p:nvSpPr>
        <p:spPr>
          <a:xfrm>
            <a:off x="311700" y="999925"/>
            <a:ext cx="8520600" cy="21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Font typeface="Montserrat"/>
              <a:buNone/>
              <a:defRPr sz="140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Font typeface="Montserrat"/>
              <a:buNone/>
              <a:defRPr sz="140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Font typeface="Montserrat"/>
              <a:buNone/>
              <a:defRPr sz="140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Font typeface="Montserrat"/>
              <a:buNone/>
              <a:defRPr sz="140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Font typeface="Montserrat"/>
              <a:buNone/>
              <a:defRPr sz="140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Font typeface="Montserrat"/>
              <a:buNone/>
              <a:defRPr sz="140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Font typeface="Montserrat"/>
              <a:buNone/>
              <a:defRPr sz="140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Font typeface="Montserrat"/>
              <a:buNone/>
              <a:defRPr sz="140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0"/>
              <a:buFont typeface="Montserrat"/>
              <a:buNone/>
              <a:defRPr sz="140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t>xx%</a:t>
            </a:r>
          </a:p>
        </p:txBody>
      </p:sp>
      <p:sp>
        <p:nvSpPr>
          <p:cNvPr id="95" name="Google Shape;95;p23"/>
          <p:cNvSpPr txBox="1">
            <a:spLocks noGrp="1"/>
          </p:cNvSpPr>
          <p:nvPr>
            <p:ph type="body" idx="1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>
                <a:highlight>
                  <a:schemeClr val="dk1"/>
                </a:highlight>
              </a:defRPr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highlight>
                  <a:schemeClr val="dk1"/>
                </a:highlight>
              </a:defRPr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highlight>
                  <a:schemeClr val="dk1"/>
                </a:highlight>
              </a:defRPr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highlight>
                  <a:schemeClr val="dk1"/>
                </a:highlight>
              </a:defRPr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highlight>
                  <a:schemeClr val="dk1"/>
                </a:highlight>
              </a:defRPr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highlight>
                  <a:schemeClr val="dk1"/>
                </a:highlight>
              </a:defRPr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highlight>
                  <a:schemeClr val="dk1"/>
                </a:highlight>
              </a:defRPr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highlight>
                  <a:schemeClr val="dk1"/>
                </a:highlight>
              </a:defRPr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96" name="Google Shape;96;p23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4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op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 b="0" i="0" u="none" strike="noStrike" cap="none">
                <a:solidFill>
                  <a:schemeClr val="dk2"/>
                </a:solidFill>
                <a:highlight>
                  <a:schemeClr val="dk1"/>
                </a:highlight>
                <a:latin typeface="Oswald"/>
                <a:ea typeface="Oswald"/>
                <a:cs typeface="Oswald"/>
                <a:sym typeface="Oswald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 b="0" i="0" u="none" strike="noStrike" cap="none">
                <a:solidFill>
                  <a:schemeClr val="dk2"/>
                </a:solidFill>
                <a:highlight>
                  <a:schemeClr val="dk1"/>
                </a:highlight>
                <a:latin typeface="Oswald"/>
                <a:ea typeface="Oswald"/>
                <a:cs typeface="Oswald"/>
                <a:sym typeface="Oswald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 b="0" i="0" u="none" strike="noStrike" cap="none">
                <a:solidFill>
                  <a:schemeClr val="dk2"/>
                </a:solidFill>
                <a:highlight>
                  <a:schemeClr val="dk1"/>
                </a:highlight>
                <a:latin typeface="Oswald"/>
                <a:ea typeface="Oswald"/>
                <a:cs typeface="Oswald"/>
                <a:sym typeface="Oswald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 b="0" i="0" u="none" strike="noStrike" cap="none">
                <a:solidFill>
                  <a:schemeClr val="dk2"/>
                </a:solidFill>
                <a:highlight>
                  <a:schemeClr val="dk1"/>
                </a:highlight>
                <a:latin typeface="Oswald"/>
                <a:ea typeface="Oswald"/>
                <a:cs typeface="Oswald"/>
                <a:sym typeface="Oswald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 b="0" i="0" u="none" strike="noStrike" cap="none">
                <a:solidFill>
                  <a:schemeClr val="dk2"/>
                </a:solidFill>
                <a:highlight>
                  <a:schemeClr val="dk1"/>
                </a:highlight>
                <a:latin typeface="Oswald"/>
                <a:ea typeface="Oswald"/>
                <a:cs typeface="Oswald"/>
                <a:sym typeface="Oswald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 b="0" i="0" u="none" strike="noStrike" cap="none">
                <a:solidFill>
                  <a:schemeClr val="dk2"/>
                </a:solidFill>
                <a:highlight>
                  <a:schemeClr val="dk1"/>
                </a:highlight>
                <a:latin typeface="Oswald"/>
                <a:ea typeface="Oswald"/>
                <a:cs typeface="Oswald"/>
                <a:sym typeface="Oswald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 b="0" i="0" u="none" strike="noStrike" cap="none">
                <a:solidFill>
                  <a:schemeClr val="dk2"/>
                </a:solidFill>
                <a:highlight>
                  <a:schemeClr val="dk1"/>
                </a:highlight>
                <a:latin typeface="Oswald"/>
                <a:ea typeface="Oswald"/>
                <a:cs typeface="Oswald"/>
                <a:sym typeface="Oswald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 b="0" i="0" u="none" strike="noStrike" cap="none">
                <a:solidFill>
                  <a:schemeClr val="dk2"/>
                </a:solidFill>
                <a:highlight>
                  <a:schemeClr val="dk1"/>
                </a:highlight>
                <a:latin typeface="Oswald"/>
                <a:ea typeface="Oswald"/>
                <a:cs typeface="Oswald"/>
                <a:sym typeface="Oswald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 b="0" i="0" u="none" strike="noStrike" cap="none">
                <a:solidFill>
                  <a:schemeClr val="dk2"/>
                </a:solidFill>
                <a:highlight>
                  <a:schemeClr val="dk1"/>
                </a:highlight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11700" y="1234075"/>
            <a:ext cx="8520600" cy="33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fair Display"/>
              <a:buChar char="●"/>
              <a:defRPr sz="18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marL="914400" marR="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layfair Display"/>
              <a:buChar char="○"/>
              <a:defRPr sz="14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marL="1371600" marR="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layfair Display"/>
              <a:buChar char="■"/>
              <a:defRPr sz="14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marL="1828800" marR="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layfair Display"/>
              <a:buChar char="●"/>
              <a:defRPr sz="14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marL="2286000" marR="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layfair Display"/>
              <a:buChar char="○"/>
              <a:defRPr sz="14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marL="2743200" marR="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layfair Display"/>
              <a:buChar char="■"/>
              <a:defRPr sz="14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marL="3200400" marR="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layfair Display"/>
              <a:buChar char="●"/>
              <a:defRPr sz="14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marL="3657600" marR="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layfair Display"/>
              <a:buChar char="○"/>
              <a:defRPr sz="14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marL="4114800" marR="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layfair Display"/>
              <a:buChar char="■"/>
              <a:defRPr sz="14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5"/>
          <p:cNvSpPr txBox="1">
            <a:spLocks noGrp="1"/>
          </p:cNvSpPr>
          <p:nvPr>
            <p:ph type="ctrTitle"/>
          </p:nvPr>
        </p:nvSpPr>
        <p:spPr>
          <a:xfrm>
            <a:off x="344250" y="1187625"/>
            <a:ext cx="8455500" cy="2374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796"/>
              <a:buNone/>
            </a:pPr>
            <a:r>
              <a:rPr lang="en" sz="3244">
                <a:solidFill>
                  <a:srgbClr val="0000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CSA0504 - DATABASE MANAGEMENT SYSTEM</a:t>
            </a:r>
            <a:endParaRPr sz="1800">
              <a:solidFill>
                <a:srgbClr val="0000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800"/>
              <a:buNone/>
            </a:pPr>
            <a:endParaRPr sz="24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800"/>
              <a:buNone/>
            </a:pPr>
            <a:r>
              <a:rPr lang="en" sz="240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CO1 - AT3 - TECHNICAL PRESENTATION</a:t>
            </a:r>
            <a:endParaRPr sz="240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800"/>
              <a:buNone/>
            </a:pPr>
            <a:endParaRPr sz="2400" b="0">
              <a:solidFill>
                <a:srgbClr val="222222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4" name="Google Shape;104;p25"/>
          <p:cNvSpPr txBox="1">
            <a:spLocks noGrp="1"/>
          </p:cNvSpPr>
          <p:nvPr>
            <p:ph type="subTitle" idx="1"/>
          </p:nvPr>
        </p:nvSpPr>
        <p:spPr>
          <a:xfrm>
            <a:off x="344238" y="3561700"/>
            <a:ext cx="8455500" cy="1255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 sz="1400">
                <a:latin typeface="Times New Roman"/>
                <a:ea typeface="Times New Roman"/>
                <a:cs typeface="Times New Roman"/>
                <a:sym typeface="Times New Roman"/>
              </a:rPr>
              <a:t>Presented By:                                                                                    Under The Supervision of :</a:t>
            </a:r>
            <a:endParaRPr sz="1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 sz="1400">
                <a:latin typeface="Times New Roman"/>
                <a:ea typeface="Times New Roman"/>
                <a:cs typeface="Times New Roman"/>
                <a:sym typeface="Times New Roman"/>
              </a:rPr>
              <a:t>V.C.Bhavan Bairav (192511369)                                		     Dr.Kesavan	                                                                                      </a:t>
            </a:r>
            <a:endParaRPr sz="14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 sz="1400">
                <a:latin typeface="Times New Roman"/>
                <a:ea typeface="Times New Roman"/>
                <a:cs typeface="Times New Roman"/>
                <a:sym typeface="Times New Roman"/>
              </a:rPr>
              <a:t>                                                                                              </a:t>
            </a:r>
            <a:r>
              <a:rPr lang="en" sz="1400"/>
              <a:t>                                 </a:t>
            </a:r>
            <a:endParaRPr sz="1400"/>
          </a:p>
        </p:txBody>
      </p:sp>
      <p:pic>
        <p:nvPicPr>
          <p:cNvPr id="105" name="Google Shape;105;p25"/>
          <p:cNvPicPr preferRelativeResize="0"/>
          <p:nvPr/>
        </p:nvPicPr>
        <p:blipFill rotWithShape="1">
          <a:blip r:embed="rId3">
            <a:alphaModFix/>
          </a:blip>
          <a:srcRect l="7407"/>
          <a:stretch/>
        </p:blipFill>
        <p:spPr>
          <a:xfrm>
            <a:off x="0" y="0"/>
            <a:ext cx="919163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06" name="Google Shape;106;p2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620125" y="10716"/>
            <a:ext cx="523875" cy="66436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785913" y="405988"/>
            <a:ext cx="5572125" cy="6143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9819" y="319382"/>
            <a:ext cx="8520600" cy="572700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smtClean="0"/>
              <a:t>QUESTIONS</a:t>
            </a:r>
            <a:endParaRPr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5012565"/>
              </p:ext>
            </p:extLst>
          </p:nvPr>
        </p:nvGraphicFramePr>
        <p:xfrm>
          <a:off x="742220" y="1209845"/>
          <a:ext cx="7710743" cy="3159729"/>
        </p:xfrm>
        <a:graphic>
          <a:graphicData uri="http://schemas.openxmlformats.org/drawingml/2006/table">
            <a:tbl>
              <a:tblPr firstRow="1" bandRow="1">
                <a:tableStyleId>{C298A04B-FCCB-42F5-947F-410B4F480092}</a:tableStyleId>
              </a:tblPr>
              <a:tblGrid>
                <a:gridCol w="1511062"/>
                <a:gridCol w="6199681"/>
              </a:tblGrid>
              <a:tr h="432759"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300"/>
                        </a:spcAft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Q. No.</a:t>
                      </a:r>
                      <a:endParaRPr lang="en-US" dirty="0">
                        <a:effectLst/>
                      </a:endParaRPr>
                    </a:p>
                  </a:txBody>
                  <a:tcPr marL="76200" marR="76200" marT="50800" marB="50800" anchor="ctr"/>
                </a:tc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300"/>
                        </a:spcAft>
                      </a:pPr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Question</a:t>
                      </a:r>
                      <a:endParaRPr lang="en-US">
                        <a:effectLst/>
                      </a:endParaRPr>
                    </a:p>
                  </a:txBody>
                  <a:tcPr marL="76200" marR="76200" marT="50800" marB="50800" anchor="ctr"/>
                </a:tc>
              </a:tr>
              <a:tr h="545394"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300"/>
                        </a:spcAft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  <a:endParaRPr lang="en-US">
                        <a:effectLst/>
                      </a:endParaRPr>
                    </a:p>
                  </a:txBody>
                  <a:tcPr marL="38100" marR="38100" marT="50800" marB="50800" anchor="ctr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300"/>
                        </a:spcAft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Create and present an ER diagram for an Online Library System, explaining each component clearly.</a:t>
                      </a:r>
                      <a:endParaRPr lang="en-US" dirty="0">
                        <a:effectLst/>
                      </a:endParaRPr>
                    </a:p>
                  </a:txBody>
                  <a:tcPr marL="76200" marR="76200" marT="50800" marB="50800"/>
                </a:tc>
              </a:tr>
              <a:tr h="545394"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300"/>
                        </a:spcAft>
                      </a:pPr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  <a:endParaRPr lang="en-US">
                        <a:effectLst/>
                      </a:endParaRPr>
                    </a:p>
                  </a:txBody>
                  <a:tcPr marL="38100" marR="38100" marT="50800" marB="50800" anchor="ctr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300"/>
                        </a:spcAft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Prepare a presentation on the EER model, demonstrating generalization and specialization with a University case study.</a:t>
                      </a:r>
                      <a:endParaRPr lang="en-US">
                        <a:effectLst/>
                      </a:endParaRPr>
                    </a:p>
                  </a:txBody>
                  <a:tcPr marL="76200" marR="76200" marT="50800" marB="50800"/>
                </a:tc>
              </a:tr>
              <a:tr h="545394"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300"/>
                        </a:spcAft>
                      </a:pPr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</a:t>
                      </a:r>
                      <a:endParaRPr lang="en-US">
                        <a:effectLst/>
                      </a:endParaRPr>
                    </a:p>
                  </a:txBody>
                  <a:tcPr marL="38100" marR="38100" marT="50800" marB="50800" anchor="ctr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300"/>
                        </a:spcAft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Present the concept of data independence (logical and physical) and its significance in DBMS architecture.</a:t>
                      </a:r>
                      <a:endParaRPr lang="en-US">
                        <a:effectLst/>
                      </a:endParaRPr>
                    </a:p>
                  </a:txBody>
                  <a:tcPr marL="76200" marR="76200" marT="50800" marB="50800"/>
                </a:tc>
              </a:tr>
              <a:tr h="545394"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300"/>
                        </a:spcAft>
                      </a:pPr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</a:t>
                      </a:r>
                      <a:endParaRPr lang="en-US">
                        <a:effectLst/>
                      </a:endParaRPr>
                    </a:p>
                  </a:txBody>
                  <a:tcPr marL="38100" marR="38100" marT="50800" marB="50800" anchor="ctr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300"/>
                        </a:spcAft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Deliver a technical presentation on the software components of a DBMS, explaining query processor, storage manager, and transaction manager.</a:t>
                      </a:r>
                      <a:endParaRPr lang="en-US" dirty="0">
                        <a:effectLst/>
                      </a:endParaRPr>
                    </a:p>
                  </a:txBody>
                  <a:tcPr marL="76200" marR="76200" marT="50800" marB="50800"/>
                </a:tc>
              </a:tr>
              <a:tr h="545394">
                <a:tc>
                  <a:txBody>
                    <a:bodyPr/>
                    <a:lstStyle/>
                    <a:p>
                      <a:pPr algn="ctr" rtl="0" fontAlgn="ctr">
                        <a:spcBef>
                          <a:spcPts val="0"/>
                        </a:spcBef>
                        <a:spcAft>
                          <a:spcPts val="300"/>
                        </a:spcAft>
                      </a:pPr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5</a:t>
                      </a:r>
                      <a:endParaRPr lang="en-US">
                        <a:effectLst/>
                      </a:endParaRPr>
                    </a:p>
                  </a:txBody>
                  <a:tcPr marL="38100" marR="38100" marT="50800" marB="50800" anchor="ctr"/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300"/>
                        </a:spcAft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Prepare a presentation comparing strong and weak entities in ER modeling with real-world examples.</a:t>
                      </a:r>
                      <a:endParaRPr lang="en-US" dirty="0">
                        <a:effectLst/>
                      </a:endParaRPr>
                    </a:p>
                  </a:txBody>
                  <a:tcPr marL="76200" marR="76200" marT="50800" marB="5080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3278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6"/>
          <p:cNvSpPr txBox="1">
            <a:spLocks noGrp="1"/>
          </p:cNvSpPr>
          <p:nvPr>
            <p:ph type="title"/>
          </p:nvPr>
        </p:nvSpPr>
        <p:spPr>
          <a:xfrm>
            <a:off x="311700" y="172799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INTRODUCTION</a:t>
            </a:r>
            <a:endParaRPr/>
          </a:p>
        </p:txBody>
      </p:sp>
      <p:sp>
        <p:nvSpPr>
          <p:cNvPr id="113" name="Google Shape;113;p26"/>
          <p:cNvSpPr txBox="1">
            <a:spLocks noGrp="1"/>
          </p:cNvSpPr>
          <p:nvPr>
            <p:ph type="body" idx="1"/>
          </p:nvPr>
        </p:nvSpPr>
        <p:spPr>
          <a:xfrm>
            <a:off x="311700" y="826960"/>
            <a:ext cx="8520600" cy="333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n" sz="1600" b="1" dirty="0" smtClean="0">
                <a:latin typeface="Arial"/>
                <a:ea typeface="Arial"/>
                <a:cs typeface="Arial"/>
                <a:sym typeface="Arial"/>
              </a:rPr>
              <a:t>1) What </a:t>
            </a:r>
            <a:r>
              <a:rPr lang="en" sz="1600" b="1" dirty="0">
                <a:latin typeface="Arial"/>
                <a:ea typeface="Arial"/>
                <a:cs typeface="Arial"/>
                <a:sym typeface="Arial"/>
              </a:rPr>
              <a:t>is an ER Diagram?</a:t>
            </a:r>
            <a:endParaRPr sz="16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120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ER (Entity-Relationship) Diagram is a graphical representation of a database.</a:t>
            </a:r>
            <a:endParaRPr sz="14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It shows </a:t>
            </a:r>
            <a:r>
              <a:rPr lang="en" sz="1400" b="1" dirty="0">
                <a:latin typeface="Arial"/>
                <a:ea typeface="Arial"/>
                <a:cs typeface="Arial"/>
                <a:sym typeface="Arial"/>
              </a:rPr>
              <a:t>Entities</a:t>
            </a: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" sz="1400" b="1" dirty="0">
                <a:latin typeface="Arial"/>
                <a:ea typeface="Arial"/>
                <a:cs typeface="Arial"/>
                <a:sym typeface="Arial"/>
              </a:rPr>
              <a:t>Attributes</a:t>
            </a: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, and </a:t>
            </a:r>
            <a:r>
              <a:rPr lang="en" sz="1400" b="1" dirty="0">
                <a:latin typeface="Arial"/>
                <a:ea typeface="Arial"/>
                <a:cs typeface="Arial"/>
                <a:sym typeface="Arial"/>
              </a:rPr>
              <a:t>Relationships</a:t>
            </a: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.</a:t>
            </a:r>
            <a:endParaRPr sz="14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It is used to design the database before implementation.</a:t>
            </a:r>
            <a:endParaRPr sz="14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n" sz="1600" b="1" dirty="0" smtClean="0">
                <a:latin typeface="Arial"/>
                <a:ea typeface="Arial"/>
                <a:cs typeface="Arial"/>
                <a:sym typeface="Arial"/>
              </a:rPr>
              <a:t>Objective:</a:t>
            </a:r>
            <a:endParaRPr sz="16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To design a database that efficiently manages:</a:t>
            </a:r>
            <a:endParaRPr sz="14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120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Library members</a:t>
            </a:r>
            <a:endParaRPr sz="14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Books</a:t>
            </a:r>
            <a:endParaRPr sz="14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Authors</a:t>
            </a:r>
            <a:endParaRPr sz="14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Publishers</a:t>
            </a:r>
            <a:endParaRPr sz="14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Book borrowing information</a:t>
            </a:r>
            <a:endParaRPr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7"/>
          <p:cNvSpPr txBox="1">
            <a:spLocks noGrp="1"/>
          </p:cNvSpPr>
          <p:nvPr>
            <p:ph type="title"/>
          </p:nvPr>
        </p:nvSpPr>
        <p:spPr>
          <a:xfrm>
            <a:off x="311700" y="2457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ER DIAGRAM</a:t>
            </a:r>
            <a:endParaRPr/>
          </a:p>
        </p:txBody>
      </p:sp>
      <p:pic>
        <p:nvPicPr>
          <p:cNvPr id="120" name="Google Shape;120;p27" title="ChatGPT Image Jul 22, 2026, 10_40_02 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2150" y="934050"/>
            <a:ext cx="3238026" cy="39795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8"/>
          <p:cNvSpPr txBox="1">
            <a:spLocks noGrp="1"/>
          </p:cNvSpPr>
          <p:nvPr>
            <p:ph type="title"/>
          </p:nvPr>
        </p:nvSpPr>
        <p:spPr>
          <a:xfrm>
            <a:off x="220958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COMPONENTS OF THE ER DIAGRAM</a:t>
            </a:r>
            <a:endParaRPr dirty="0"/>
          </a:p>
        </p:txBody>
      </p:sp>
      <p:sp>
        <p:nvSpPr>
          <p:cNvPr id="126" name="Google Shape;126;p28"/>
          <p:cNvSpPr txBox="1">
            <a:spLocks noGrp="1"/>
          </p:cNvSpPr>
          <p:nvPr>
            <p:ph type="body" idx="1"/>
          </p:nvPr>
        </p:nvSpPr>
        <p:spPr>
          <a:xfrm>
            <a:off x="220958" y="897370"/>
            <a:ext cx="4159200" cy="333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75"/>
              <a:buFont typeface="Arial"/>
              <a:buNone/>
            </a:pPr>
            <a:r>
              <a:rPr lang="en" sz="1600" b="1" dirty="0">
                <a:latin typeface="Arial"/>
                <a:ea typeface="Arial"/>
                <a:cs typeface="Arial"/>
                <a:sym typeface="Arial"/>
              </a:rPr>
              <a:t>1. </a:t>
            </a:r>
            <a:r>
              <a:rPr lang="en" sz="1600" b="1" dirty="0" smtClean="0">
                <a:latin typeface="Arial"/>
                <a:ea typeface="Arial"/>
                <a:cs typeface="Arial"/>
                <a:sym typeface="Arial"/>
              </a:rPr>
              <a:t>Entities:</a:t>
            </a:r>
            <a:endParaRPr sz="16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8613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575"/>
              <a:buFont typeface="Arial"/>
              <a:buChar char="●"/>
            </a:pPr>
            <a:r>
              <a:rPr lang="en" sz="1400" b="1" dirty="0">
                <a:latin typeface="Arial"/>
                <a:ea typeface="Arial"/>
                <a:cs typeface="Arial"/>
                <a:sym typeface="Arial"/>
              </a:rPr>
              <a:t>Member</a:t>
            </a: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 – Stores member details.</a:t>
            </a:r>
            <a:endParaRPr sz="14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8613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575"/>
              <a:buFont typeface="Arial"/>
              <a:buChar char="●"/>
            </a:pPr>
            <a:r>
              <a:rPr lang="en" sz="1400" b="1" dirty="0">
                <a:latin typeface="Arial"/>
                <a:ea typeface="Arial"/>
                <a:cs typeface="Arial"/>
                <a:sym typeface="Arial"/>
              </a:rPr>
              <a:t>Book</a:t>
            </a: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 – Stores book information.</a:t>
            </a:r>
            <a:endParaRPr sz="14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8613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575"/>
              <a:buFont typeface="Arial"/>
              <a:buChar char="●"/>
            </a:pPr>
            <a:r>
              <a:rPr lang="en" sz="1400" b="1" dirty="0">
                <a:latin typeface="Arial"/>
                <a:ea typeface="Arial"/>
                <a:cs typeface="Arial"/>
                <a:sym typeface="Arial"/>
              </a:rPr>
              <a:t>Author</a:t>
            </a: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 – Stores author details.</a:t>
            </a:r>
            <a:endParaRPr sz="14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8613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575"/>
              <a:buFont typeface="Arial"/>
              <a:buChar char="●"/>
            </a:pPr>
            <a:r>
              <a:rPr lang="en" sz="1400" b="1" dirty="0">
                <a:latin typeface="Arial"/>
                <a:ea typeface="Arial"/>
                <a:cs typeface="Arial"/>
                <a:sym typeface="Arial"/>
              </a:rPr>
              <a:t>Publisher</a:t>
            </a: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 – Stores publisher details</a:t>
            </a:r>
            <a:r>
              <a:rPr lang="en" sz="1400" dirty="0" smtClean="0">
                <a:latin typeface="Arial"/>
                <a:ea typeface="Arial"/>
                <a:cs typeface="Arial"/>
                <a:sym typeface="Arial"/>
              </a:rPr>
              <a:t>.</a:t>
            </a:r>
            <a:endParaRPr lang="en-US" sz="1400" dirty="0" smtClean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75"/>
              <a:buFont typeface="Arial"/>
              <a:buNone/>
            </a:pPr>
            <a:endParaRPr lang="en-US" sz="14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75"/>
              <a:buFont typeface="Arial"/>
              <a:buNone/>
            </a:pPr>
            <a:r>
              <a:rPr lang="en" sz="1600" b="1" dirty="0" smtClean="0"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" sz="1600" b="1" dirty="0"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n" sz="1600" b="1" dirty="0" smtClean="0">
                <a:latin typeface="Arial"/>
                <a:ea typeface="Arial"/>
                <a:cs typeface="Arial"/>
                <a:sym typeface="Arial"/>
              </a:rPr>
              <a:t>Relationships:</a:t>
            </a:r>
            <a:endParaRPr sz="16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8613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575"/>
              <a:buFont typeface="Arial"/>
              <a:buChar char="●"/>
            </a:pPr>
            <a:r>
              <a:rPr lang="en" sz="1400" b="1" dirty="0">
                <a:latin typeface="Arial"/>
                <a:ea typeface="Arial"/>
                <a:cs typeface="Arial"/>
                <a:sym typeface="Arial"/>
              </a:rPr>
              <a:t>Borrows</a:t>
            </a:r>
            <a:endParaRPr sz="14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8613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575"/>
              <a:buFont typeface="Arial"/>
              <a:buChar char="●"/>
            </a:pPr>
            <a:r>
              <a:rPr lang="en" sz="1400" b="1" dirty="0">
                <a:latin typeface="Arial"/>
                <a:ea typeface="Arial"/>
                <a:cs typeface="Arial"/>
                <a:sym typeface="Arial"/>
              </a:rPr>
              <a:t>Writes</a:t>
            </a:r>
            <a:endParaRPr sz="14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8613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575"/>
              <a:buFont typeface="Arial"/>
              <a:buChar char="●"/>
            </a:pPr>
            <a:r>
              <a:rPr lang="en" sz="1400" b="1" dirty="0">
                <a:latin typeface="Arial"/>
                <a:ea typeface="Arial"/>
                <a:cs typeface="Arial"/>
                <a:sym typeface="Arial"/>
              </a:rPr>
              <a:t>Publishes</a:t>
            </a:r>
            <a:endParaRPr sz="14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75"/>
              <a:buNone/>
            </a:pPr>
            <a:endParaRPr sz="1750" dirty="0"/>
          </a:p>
        </p:txBody>
      </p:sp>
      <p:sp>
        <p:nvSpPr>
          <p:cNvPr id="127" name="Google Shape;127;p28"/>
          <p:cNvSpPr txBox="1"/>
          <p:nvPr/>
        </p:nvSpPr>
        <p:spPr>
          <a:xfrm>
            <a:off x="4558040" y="379149"/>
            <a:ext cx="4313736" cy="4764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" sz="1600" b="1" dirty="0">
                <a:solidFill>
                  <a:schemeClr val="dk2"/>
                </a:solidFill>
              </a:rPr>
              <a:t>2. </a:t>
            </a:r>
            <a:r>
              <a:rPr lang="en" sz="1600" b="1" dirty="0" smtClean="0">
                <a:solidFill>
                  <a:schemeClr val="dk2"/>
                </a:solidFill>
              </a:rPr>
              <a:t>Attributes:</a:t>
            </a:r>
            <a:endParaRPr sz="1600" b="1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" sz="1200" b="1" dirty="0">
                <a:solidFill>
                  <a:schemeClr val="dk2"/>
                </a:solidFill>
              </a:rPr>
              <a:t>Member</a:t>
            </a:r>
            <a:endParaRPr sz="1200" b="1" dirty="0">
              <a:solidFill>
                <a:schemeClr val="dk2"/>
              </a:solidFill>
            </a:endParaRPr>
          </a:p>
          <a:p>
            <a:pPr marL="457200" lvl="0" indent="-303213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75"/>
              <a:buChar char="●"/>
            </a:pPr>
            <a:r>
              <a:rPr lang="en" sz="1200" dirty="0">
                <a:solidFill>
                  <a:schemeClr val="dk2"/>
                </a:solidFill>
              </a:rPr>
              <a:t>Member_ID (Primary Key)</a:t>
            </a:r>
            <a:endParaRPr sz="1200" dirty="0">
              <a:solidFill>
                <a:schemeClr val="dk2"/>
              </a:solidFill>
            </a:endParaRPr>
          </a:p>
          <a:p>
            <a:pPr marL="457200" lvl="0" indent="-303213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75"/>
              <a:buChar char="●"/>
            </a:pPr>
            <a:r>
              <a:rPr lang="en" sz="1200" dirty="0">
                <a:solidFill>
                  <a:schemeClr val="dk2"/>
                </a:solidFill>
              </a:rPr>
              <a:t>Name</a:t>
            </a:r>
            <a:endParaRPr sz="1200" dirty="0">
              <a:solidFill>
                <a:schemeClr val="dk2"/>
              </a:solidFill>
            </a:endParaRPr>
          </a:p>
          <a:p>
            <a:pPr marL="457200" lvl="0" indent="-303213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75"/>
              <a:buChar char="●"/>
            </a:pPr>
            <a:r>
              <a:rPr lang="en" sz="1200" dirty="0">
                <a:solidFill>
                  <a:schemeClr val="dk2"/>
                </a:solidFill>
              </a:rPr>
              <a:t>Email</a:t>
            </a:r>
            <a:endParaRPr sz="1200" dirty="0">
              <a:solidFill>
                <a:schemeClr val="dk2"/>
              </a:solidFill>
            </a:endParaRPr>
          </a:p>
          <a:p>
            <a:pPr marL="457200" lvl="0" indent="-303213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75"/>
              <a:buChar char="●"/>
            </a:pPr>
            <a:r>
              <a:rPr lang="en" sz="1200" dirty="0">
                <a:solidFill>
                  <a:schemeClr val="dk2"/>
                </a:solidFill>
              </a:rPr>
              <a:t>Phone</a:t>
            </a: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 b="1" dirty="0">
                <a:solidFill>
                  <a:schemeClr val="dk2"/>
                </a:solidFill>
              </a:rPr>
              <a:t>Book</a:t>
            </a:r>
            <a:endParaRPr sz="1200" b="1" dirty="0">
              <a:solidFill>
                <a:schemeClr val="dk2"/>
              </a:solidFill>
            </a:endParaRPr>
          </a:p>
          <a:p>
            <a:pPr marL="457200" lvl="0" indent="-303213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75"/>
              <a:buChar char="●"/>
            </a:pPr>
            <a:r>
              <a:rPr lang="en" sz="1200" dirty="0">
                <a:solidFill>
                  <a:schemeClr val="dk2"/>
                </a:solidFill>
              </a:rPr>
              <a:t>Book_ID (Primary Key)</a:t>
            </a:r>
            <a:endParaRPr sz="1200" dirty="0">
              <a:solidFill>
                <a:schemeClr val="dk2"/>
              </a:solidFill>
            </a:endParaRPr>
          </a:p>
          <a:p>
            <a:pPr marL="457200" lvl="0" indent="-303213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75"/>
              <a:buChar char="●"/>
            </a:pPr>
            <a:r>
              <a:rPr lang="en" sz="1200" dirty="0">
                <a:solidFill>
                  <a:schemeClr val="dk2"/>
                </a:solidFill>
              </a:rPr>
              <a:t>Title</a:t>
            </a:r>
            <a:endParaRPr sz="1200" dirty="0">
              <a:solidFill>
                <a:schemeClr val="dk2"/>
              </a:solidFill>
            </a:endParaRPr>
          </a:p>
          <a:p>
            <a:pPr marL="457200" lvl="0" indent="-303213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75"/>
              <a:buChar char="●"/>
            </a:pPr>
            <a:r>
              <a:rPr lang="en" sz="1200" dirty="0">
                <a:solidFill>
                  <a:schemeClr val="dk2"/>
                </a:solidFill>
              </a:rPr>
              <a:t>ISBN</a:t>
            </a:r>
            <a:endParaRPr sz="1200" dirty="0">
              <a:solidFill>
                <a:schemeClr val="dk2"/>
              </a:solidFill>
            </a:endParaRPr>
          </a:p>
          <a:p>
            <a:pPr marL="457200" lvl="0" indent="-303213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75"/>
              <a:buChar char="●"/>
            </a:pPr>
            <a:r>
              <a:rPr lang="en" sz="1200" dirty="0">
                <a:solidFill>
                  <a:schemeClr val="dk2"/>
                </a:solidFill>
              </a:rPr>
              <a:t>Category</a:t>
            </a: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 b="1" dirty="0">
                <a:solidFill>
                  <a:schemeClr val="dk2"/>
                </a:solidFill>
              </a:rPr>
              <a:t>Author</a:t>
            </a:r>
            <a:endParaRPr sz="1200" b="1" dirty="0">
              <a:solidFill>
                <a:schemeClr val="dk2"/>
              </a:solidFill>
            </a:endParaRPr>
          </a:p>
          <a:p>
            <a:pPr marL="457200" lvl="0" indent="-303213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75"/>
              <a:buChar char="●"/>
            </a:pPr>
            <a:r>
              <a:rPr lang="en" sz="1200" dirty="0">
                <a:solidFill>
                  <a:schemeClr val="dk2"/>
                </a:solidFill>
              </a:rPr>
              <a:t>Author_ID</a:t>
            </a:r>
            <a:endParaRPr sz="1200" dirty="0">
              <a:solidFill>
                <a:schemeClr val="dk2"/>
              </a:solidFill>
            </a:endParaRPr>
          </a:p>
          <a:p>
            <a:pPr marL="457200" lvl="0" indent="-303213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75"/>
              <a:buChar char="●"/>
            </a:pPr>
            <a:r>
              <a:rPr lang="en" sz="1200" dirty="0">
                <a:solidFill>
                  <a:schemeClr val="dk2"/>
                </a:solidFill>
              </a:rPr>
              <a:t>Author_Name</a:t>
            </a: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 b="1" dirty="0">
                <a:solidFill>
                  <a:schemeClr val="dk2"/>
                </a:solidFill>
              </a:rPr>
              <a:t>Publisher</a:t>
            </a:r>
            <a:endParaRPr sz="1200" b="1" dirty="0">
              <a:solidFill>
                <a:schemeClr val="dk2"/>
              </a:solidFill>
            </a:endParaRPr>
          </a:p>
          <a:p>
            <a:pPr marL="457200" lvl="0" indent="-303213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75"/>
              <a:buChar char="●"/>
            </a:pPr>
            <a:r>
              <a:rPr lang="en" sz="1200" dirty="0">
                <a:solidFill>
                  <a:schemeClr val="dk2"/>
                </a:solidFill>
              </a:rPr>
              <a:t>Publisher_ID</a:t>
            </a:r>
            <a:endParaRPr sz="1200" dirty="0">
              <a:solidFill>
                <a:schemeClr val="dk2"/>
              </a:solidFill>
            </a:endParaRPr>
          </a:p>
          <a:p>
            <a:pPr marL="457200" lvl="0" indent="-303213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75"/>
              <a:buChar char="●"/>
            </a:pPr>
            <a:r>
              <a:rPr lang="en" sz="1200" dirty="0">
                <a:solidFill>
                  <a:schemeClr val="dk2"/>
                </a:solidFill>
              </a:rPr>
              <a:t>Publisher_Name</a:t>
            </a:r>
            <a:endParaRPr sz="1200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9"/>
          <p:cNvSpPr txBox="1">
            <a:spLocks noGrp="1"/>
          </p:cNvSpPr>
          <p:nvPr>
            <p:ph type="title"/>
          </p:nvPr>
        </p:nvSpPr>
        <p:spPr>
          <a:xfrm>
            <a:off x="248879" y="27750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ADVANTAGES &amp; CONCLUSION </a:t>
            </a:r>
            <a:endParaRPr/>
          </a:p>
        </p:txBody>
      </p:sp>
      <p:sp>
        <p:nvSpPr>
          <p:cNvPr id="133" name="Google Shape;133;p29"/>
          <p:cNvSpPr txBox="1">
            <a:spLocks noGrp="1"/>
          </p:cNvSpPr>
          <p:nvPr>
            <p:ph type="body" idx="1"/>
          </p:nvPr>
        </p:nvSpPr>
        <p:spPr>
          <a:xfrm>
            <a:off x="346600" y="787380"/>
            <a:ext cx="8520600" cy="333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n" sz="2000" b="1" dirty="0" smtClean="0">
                <a:latin typeface="Arial"/>
                <a:ea typeface="Arial"/>
                <a:cs typeface="Arial"/>
                <a:sym typeface="Arial"/>
              </a:rPr>
              <a:t>Advantages:</a:t>
            </a:r>
            <a:endParaRPr sz="20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120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Reduces data redundancy.</a:t>
            </a:r>
            <a:endParaRPr sz="14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Organizes library records efficiently.</a:t>
            </a:r>
            <a:endParaRPr sz="14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Makes searching and managing books easier.</a:t>
            </a:r>
            <a:endParaRPr sz="14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Improves data consistency.</a:t>
            </a:r>
            <a:endParaRPr sz="14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Simplifies future database development.</a:t>
            </a:r>
            <a:endParaRPr sz="14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n" sz="2000" b="1" dirty="0" smtClean="0">
                <a:latin typeface="Arial"/>
                <a:ea typeface="Arial"/>
                <a:cs typeface="Arial"/>
                <a:sym typeface="Arial"/>
              </a:rPr>
              <a:t>Conclusion:</a:t>
            </a:r>
            <a:endParaRPr sz="20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120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ER diagrams provide a clear blueprint for database design.</a:t>
            </a:r>
            <a:endParaRPr sz="14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They identify entities, attributes, and relationships.</a:t>
            </a:r>
            <a:endParaRPr sz="14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The Online Library ER model can be easily converted into relational tables for implementation in a DBMS.</a:t>
            </a:r>
            <a:endParaRPr sz="14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0"/>
          <p:cNvSpPr txBox="1">
            <a:spLocks noGrp="1"/>
          </p:cNvSpPr>
          <p:nvPr>
            <p:ph type="title"/>
          </p:nvPr>
        </p:nvSpPr>
        <p:spPr>
          <a:xfrm>
            <a:off x="311700" y="26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30"/>
          <p:cNvSpPr txBox="1">
            <a:spLocks noGrp="1"/>
          </p:cNvSpPr>
          <p:nvPr>
            <p:ph type="body" idx="1"/>
          </p:nvPr>
        </p:nvSpPr>
        <p:spPr>
          <a:xfrm>
            <a:off x="311700" y="894932"/>
            <a:ext cx="8520600" cy="333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935"/>
              <a:buFont typeface="Arial"/>
              <a:buNone/>
            </a:pPr>
            <a:r>
              <a:rPr lang="en" sz="1745" b="1" dirty="0" smtClean="0">
                <a:latin typeface="Arial"/>
                <a:ea typeface="Arial"/>
                <a:cs typeface="Arial"/>
                <a:sym typeface="Arial"/>
              </a:rPr>
              <a:t>2) Enhanced </a:t>
            </a:r>
            <a:r>
              <a:rPr lang="en" sz="1745" b="1" dirty="0">
                <a:latin typeface="Arial"/>
                <a:ea typeface="Arial"/>
                <a:cs typeface="Arial"/>
                <a:sym typeface="Arial"/>
              </a:rPr>
              <a:t>Entity-Relationship (EER) Model</a:t>
            </a:r>
            <a:endParaRPr sz="1745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dk2"/>
              </a:buClr>
              <a:buSzPts val="935"/>
              <a:buFont typeface="Arial"/>
              <a:buNone/>
            </a:pPr>
            <a:r>
              <a:rPr lang="en" sz="1605" b="1" dirty="0">
                <a:latin typeface="Arial"/>
                <a:ea typeface="Arial"/>
                <a:cs typeface="Arial"/>
                <a:sym typeface="Arial"/>
              </a:rPr>
              <a:t>What is an EER Model?</a:t>
            </a:r>
            <a:endParaRPr sz="1605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9723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435"/>
              <a:buFont typeface="Arial"/>
              <a:buChar char="●"/>
            </a:pPr>
            <a:r>
              <a:rPr lang="en" sz="1435" dirty="0">
                <a:latin typeface="Arial"/>
                <a:ea typeface="Arial"/>
                <a:cs typeface="Arial"/>
                <a:sym typeface="Arial"/>
              </a:rPr>
              <a:t>The Enhanced Entity-Relationship (EER) Model is an extension of the ER Model.</a:t>
            </a:r>
            <a:endParaRPr sz="1435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9723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35"/>
              <a:buFont typeface="Arial"/>
              <a:buChar char="●"/>
            </a:pPr>
            <a:r>
              <a:rPr lang="en" sz="1435" dirty="0">
                <a:latin typeface="Arial"/>
                <a:ea typeface="Arial"/>
                <a:cs typeface="Arial"/>
                <a:sym typeface="Arial"/>
              </a:rPr>
              <a:t>It represents more complex real-world scenarios.</a:t>
            </a:r>
            <a:endParaRPr sz="1435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9723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35"/>
              <a:buFont typeface="Arial"/>
              <a:buChar char="●"/>
            </a:pPr>
            <a:r>
              <a:rPr lang="en" sz="1435" dirty="0">
                <a:latin typeface="Arial"/>
                <a:ea typeface="Arial"/>
                <a:cs typeface="Arial"/>
                <a:sym typeface="Arial"/>
              </a:rPr>
              <a:t>It introduces </a:t>
            </a:r>
            <a:r>
              <a:rPr lang="en" sz="1435" b="1" dirty="0">
                <a:latin typeface="Arial"/>
                <a:ea typeface="Arial"/>
                <a:cs typeface="Arial"/>
                <a:sym typeface="Arial"/>
              </a:rPr>
              <a:t>Generalization</a:t>
            </a:r>
            <a:r>
              <a:rPr lang="en" sz="1435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" sz="1435" b="1" dirty="0">
                <a:latin typeface="Arial"/>
                <a:ea typeface="Arial"/>
                <a:cs typeface="Arial"/>
                <a:sym typeface="Arial"/>
              </a:rPr>
              <a:t>Specialization</a:t>
            </a:r>
            <a:r>
              <a:rPr lang="en" sz="1435" dirty="0">
                <a:latin typeface="Arial"/>
                <a:ea typeface="Arial"/>
                <a:cs typeface="Arial"/>
                <a:sym typeface="Arial"/>
              </a:rPr>
              <a:t>, and </a:t>
            </a:r>
            <a:r>
              <a:rPr lang="en" sz="1435" b="1" dirty="0">
                <a:latin typeface="Arial"/>
                <a:ea typeface="Arial"/>
                <a:cs typeface="Arial"/>
                <a:sym typeface="Arial"/>
              </a:rPr>
              <a:t>Inheritance</a:t>
            </a:r>
            <a:r>
              <a:rPr lang="en" sz="1435" dirty="0">
                <a:latin typeface="Arial"/>
                <a:ea typeface="Arial"/>
                <a:cs typeface="Arial"/>
                <a:sym typeface="Arial"/>
              </a:rPr>
              <a:t>.</a:t>
            </a:r>
            <a:endParaRPr sz="1435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dk2"/>
              </a:buClr>
              <a:buSzPts val="935"/>
              <a:buFont typeface="Arial"/>
              <a:buNone/>
            </a:pPr>
            <a:r>
              <a:rPr lang="en" sz="1605" b="1" dirty="0" smtClean="0">
                <a:latin typeface="Arial"/>
                <a:ea typeface="Arial"/>
                <a:cs typeface="Arial"/>
                <a:sym typeface="Arial"/>
              </a:rPr>
              <a:t>Features:</a:t>
            </a:r>
            <a:endParaRPr sz="1605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9723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435"/>
              <a:buFont typeface="Arial"/>
              <a:buChar char="●"/>
            </a:pPr>
            <a:r>
              <a:rPr lang="en" sz="1435" dirty="0">
                <a:latin typeface="Arial"/>
                <a:ea typeface="Arial"/>
                <a:cs typeface="Arial"/>
                <a:sym typeface="Arial"/>
              </a:rPr>
              <a:t>Supports inheritance of attributes.</a:t>
            </a:r>
            <a:endParaRPr sz="1435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9723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35"/>
              <a:buFont typeface="Arial"/>
              <a:buChar char="●"/>
            </a:pPr>
            <a:r>
              <a:rPr lang="en" sz="1435" dirty="0">
                <a:latin typeface="Arial"/>
                <a:ea typeface="Arial"/>
                <a:cs typeface="Arial"/>
                <a:sym typeface="Arial"/>
              </a:rPr>
              <a:t>Reduces data redundancy.</a:t>
            </a:r>
            <a:endParaRPr sz="1435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9723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35"/>
              <a:buFont typeface="Arial"/>
              <a:buChar char="●"/>
            </a:pPr>
            <a:r>
              <a:rPr lang="en" sz="1435" dirty="0">
                <a:latin typeface="Arial"/>
                <a:ea typeface="Arial"/>
                <a:cs typeface="Arial"/>
                <a:sym typeface="Arial"/>
              </a:rPr>
              <a:t>Models complex organizational structures.</a:t>
            </a:r>
            <a:endParaRPr sz="1435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dk2"/>
              </a:buClr>
              <a:buSzPts val="935"/>
              <a:buFont typeface="Arial"/>
              <a:buNone/>
            </a:pPr>
            <a:r>
              <a:rPr lang="en" sz="1605" b="1" dirty="0" smtClean="0">
                <a:latin typeface="Arial"/>
                <a:ea typeface="Arial"/>
                <a:cs typeface="Arial"/>
                <a:sym typeface="Arial"/>
              </a:rPr>
              <a:t>Objective:</a:t>
            </a:r>
            <a:endParaRPr sz="1605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935"/>
              <a:buFont typeface="Arial"/>
              <a:buNone/>
            </a:pPr>
            <a:r>
              <a:rPr lang="en" sz="1435" dirty="0">
                <a:latin typeface="Arial"/>
                <a:ea typeface="Arial"/>
                <a:cs typeface="Arial"/>
                <a:sym typeface="Arial"/>
              </a:rPr>
              <a:t>To demonstrate </a:t>
            </a:r>
            <a:r>
              <a:rPr lang="en" sz="1435" b="1" dirty="0">
                <a:latin typeface="Arial"/>
                <a:ea typeface="Arial"/>
                <a:cs typeface="Arial"/>
                <a:sym typeface="Arial"/>
              </a:rPr>
              <a:t>Generalization</a:t>
            </a:r>
            <a:r>
              <a:rPr lang="en" sz="1435" dirty="0"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" sz="1435" b="1" dirty="0">
                <a:latin typeface="Arial"/>
                <a:ea typeface="Arial"/>
                <a:cs typeface="Arial"/>
                <a:sym typeface="Arial"/>
              </a:rPr>
              <a:t>Specialization</a:t>
            </a:r>
            <a:r>
              <a:rPr lang="en" sz="1435" dirty="0">
                <a:latin typeface="Arial"/>
                <a:ea typeface="Arial"/>
                <a:cs typeface="Arial"/>
                <a:sym typeface="Arial"/>
              </a:rPr>
              <a:t> using a </a:t>
            </a:r>
            <a:r>
              <a:rPr lang="en" sz="1435" b="1" dirty="0">
                <a:latin typeface="Arial"/>
                <a:ea typeface="Arial"/>
                <a:cs typeface="Arial"/>
                <a:sym typeface="Arial"/>
              </a:rPr>
              <a:t>University Management System</a:t>
            </a:r>
            <a:r>
              <a:rPr lang="en" sz="1435" dirty="0">
                <a:latin typeface="Arial"/>
                <a:ea typeface="Arial"/>
                <a:cs typeface="Arial"/>
                <a:sym typeface="Arial"/>
              </a:rPr>
              <a:t>.</a:t>
            </a:r>
            <a:endParaRPr sz="1435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935"/>
              <a:buNone/>
            </a:pPr>
            <a:endParaRPr sz="20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1"/>
          <p:cNvSpPr txBox="1">
            <a:spLocks noGrp="1"/>
          </p:cNvSpPr>
          <p:nvPr>
            <p:ph type="title"/>
          </p:nvPr>
        </p:nvSpPr>
        <p:spPr>
          <a:xfrm>
            <a:off x="311700" y="2366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EER Diagram</a:t>
            </a:r>
            <a:endParaRPr/>
          </a:p>
        </p:txBody>
      </p:sp>
      <p:pic>
        <p:nvPicPr>
          <p:cNvPr id="146" name="Google Shape;146;p31" title="ChatGPT Image Jul 23, 2026, 12_26_48 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41275" y="1074525"/>
            <a:ext cx="5480874" cy="3653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GENERALIZATION AND SPECIALIZATION </a:t>
            </a:r>
            <a:endParaRPr lang="en-US" dirty="0"/>
          </a:p>
        </p:txBody>
      </p:sp>
      <p:sp>
        <p:nvSpPr>
          <p:cNvPr id="152" name="Google Shape;152;p32"/>
          <p:cNvSpPr txBox="1">
            <a:spLocks noGrp="1"/>
          </p:cNvSpPr>
          <p:nvPr>
            <p:ph type="body" idx="1"/>
          </p:nvPr>
        </p:nvSpPr>
        <p:spPr>
          <a:xfrm>
            <a:off x="311700" y="1037288"/>
            <a:ext cx="4070700" cy="333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358"/>
              <a:buFont typeface="Arial"/>
              <a:buNone/>
            </a:pPr>
            <a:r>
              <a:rPr lang="en" b="1" dirty="0" smtClean="0">
                <a:latin typeface="Arial"/>
                <a:ea typeface="Arial"/>
                <a:cs typeface="Arial"/>
                <a:sym typeface="Arial"/>
              </a:rPr>
              <a:t>Generalization:</a:t>
            </a:r>
            <a:endParaRPr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09860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1280"/>
              <a:buFont typeface="Arial"/>
              <a:buChar char="●"/>
            </a:pPr>
            <a:r>
              <a:rPr lang="en" sz="1520" dirty="0">
                <a:latin typeface="Arial"/>
                <a:ea typeface="Arial"/>
                <a:cs typeface="Arial"/>
                <a:sym typeface="Arial"/>
              </a:rPr>
              <a:t>Bottom-up approach.</a:t>
            </a:r>
            <a:endParaRPr sz="152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0986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80"/>
              <a:buFont typeface="Arial"/>
              <a:buChar char="●"/>
            </a:pPr>
            <a:r>
              <a:rPr lang="en" sz="1520" dirty="0">
                <a:latin typeface="Arial"/>
                <a:ea typeface="Arial"/>
                <a:cs typeface="Arial"/>
                <a:sym typeface="Arial"/>
              </a:rPr>
              <a:t>Combines similar lower-level entities into one higher-level entity.</a:t>
            </a:r>
            <a:endParaRPr sz="152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0986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80"/>
              <a:buFont typeface="Arial"/>
              <a:buChar char="●"/>
            </a:pPr>
            <a:r>
              <a:rPr lang="en" sz="1520" dirty="0">
                <a:latin typeface="Arial"/>
                <a:ea typeface="Arial"/>
                <a:cs typeface="Arial"/>
                <a:sym typeface="Arial"/>
              </a:rPr>
              <a:t>Example:</a:t>
            </a:r>
            <a:endParaRPr sz="1520" dirty="0">
              <a:latin typeface="Arial"/>
              <a:ea typeface="Arial"/>
              <a:cs typeface="Arial"/>
              <a:sym typeface="Arial"/>
            </a:endParaRPr>
          </a:p>
          <a:p>
            <a:pPr marL="914400" lvl="1" indent="-30986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80"/>
              <a:buFont typeface="Arial"/>
              <a:buChar char="○"/>
            </a:pPr>
            <a:r>
              <a:rPr lang="en" sz="1520" dirty="0">
                <a:latin typeface="Arial"/>
                <a:ea typeface="Arial"/>
                <a:cs typeface="Arial"/>
                <a:sym typeface="Arial"/>
              </a:rPr>
              <a:t>Student</a:t>
            </a:r>
            <a:endParaRPr sz="1520" dirty="0">
              <a:latin typeface="Arial"/>
              <a:ea typeface="Arial"/>
              <a:cs typeface="Arial"/>
              <a:sym typeface="Arial"/>
            </a:endParaRPr>
          </a:p>
          <a:p>
            <a:pPr marL="914400" lvl="1" indent="-30986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80"/>
              <a:buFont typeface="Arial"/>
              <a:buChar char="○"/>
            </a:pPr>
            <a:r>
              <a:rPr lang="en" sz="1520" dirty="0">
                <a:latin typeface="Arial"/>
                <a:ea typeface="Arial"/>
                <a:cs typeface="Arial"/>
                <a:sym typeface="Arial"/>
              </a:rPr>
              <a:t>Faculty</a:t>
            </a:r>
            <a:endParaRPr sz="1520" dirty="0">
              <a:latin typeface="Arial"/>
              <a:ea typeface="Arial"/>
              <a:cs typeface="Arial"/>
              <a:sym typeface="Arial"/>
            </a:endParaRPr>
          </a:p>
          <a:p>
            <a:pPr marL="914400" lvl="1" indent="-30986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80"/>
              <a:buFont typeface="Arial"/>
              <a:buChar char="○"/>
            </a:pPr>
            <a:r>
              <a:rPr lang="en" sz="1520" dirty="0">
                <a:latin typeface="Arial"/>
                <a:ea typeface="Arial"/>
                <a:cs typeface="Arial"/>
                <a:sym typeface="Arial"/>
              </a:rPr>
              <a:t>Administrator</a:t>
            </a:r>
            <a:endParaRPr sz="1520" dirty="0">
              <a:latin typeface="Arial"/>
              <a:ea typeface="Arial"/>
              <a:cs typeface="Arial"/>
              <a:sym typeface="Arial"/>
            </a:endParaRPr>
          </a:p>
          <a:p>
            <a:pPr marL="914400" lvl="1" indent="-30986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80"/>
              <a:buFont typeface="Arial"/>
              <a:buChar char="○"/>
            </a:pPr>
            <a:r>
              <a:rPr lang="en" sz="1520" dirty="0">
                <a:latin typeface="Arial"/>
                <a:ea typeface="Arial"/>
                <a:cs typeface="Arial"/>
                <a:sym typeface="Arial"/>
              </a:rPr>
              <a:t>⬇</a:t>
            </a:r>
            <a:endParaRPr sz="1520" dirty="0">
              <a:latin typeface="Arial"/>
              <a:ea typeface="Arial"/>
              <a:cs typeface="Arial"/>
              <a:sym typeface="Arial"/>
            </a:endParaRPr>
          </a:p>
          <a:p>
            <a:pPr marL="914400" lvl="1" indent="-30986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280"/>
              <a:buFont typeface="Arial"/>
              <a:buChar char="○"/>
            </a:pPr>
            <a:r>
              <a:rPr lang="en" sz="1520" b="1" dirty="0">
                <a:latin typeface="Arial"/>
                <a:ea typeface="Arial"/>
                <a:cs typeface="Arial"/>
                <a:sym typeface="Arial"/>
              </a:rPr>
              <a:t>Person</a:t>
            </a:r>
            <a:endParaRPr sz="1520" dirty="0"/>
          </a:p>
        </p:txBody>
      </p:sp>
      <p:sp>
        <p:nvSpPr>
          <p:cNvPr id="153" name="Google Shape;153;p32"/>
          <p:cNvSpPr txBox="1"/>
          <p:nvPr/>
        </p:nvSpPr>
        <p:spPr>
          <a:xfrm>
            <a:off x="4630920" y="1017725"/>
            <a:ext cx="4070700" cy="3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358"/>
              <a:buFont typeface="Arial"/>
              <a:buNone/>
            </a:pPr>
            <a:r>
              <a:rPr lang="en" sz="1800" b="1" dirty="0" smtClean="0">
                <a:solidFill>
                  <a:schemeClr val="dk2"/>
                </a:solidFill>
              </a:rPr>
              <a:t>Specialization:</a:t>
            </a:r>
            <a:endParaRPr sz="1800" b="1" dirty="0">
              <a:solidFill>
                <a:schemeClr val="dk2"/>
              </a:solidFill>
            </a:endParaRPr>
          </a:p>
          <a:p>
            <a:pPr marL="457200" lvl="0" indent="-324862" algn="l" rtl="0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516"/>
              <a:buChar char="●"/>
            </a:pPr>
            <a:r>
              <a:rPr lang="en" sz="1516" dirty="0">
                <a:solidFill>
                  <a:schemeClr val="dk2"/>
                </a:solidFill>
              </a:rPr>
              <a:t>Top-down approach.</a:t>
            </a:r>
            <a:endParaRPr sz="1516" dirty="0">
              <a:solidFill>
                <a:schemeClr val="dk2"/>
              </a:solidFill>
            </a:endParaRPr>
          </a:p>
          <a:p>
            <a:pPr marL="457200" lvl="0" indent="-324862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16"/>
              <a:buChar char="●"/>
            </a:pPr>
            <a:r>
              <a:rPr lang="en" sz="1516" dirty="0">
                <a:solidFill>
                  <a:schemeClr val="dk2"/>
                </a:solidFill>
              </a:rPr>
              <a:t>Divides one higher-level entity into more specific entities.</a:t>
            </a:r>
            <a:endParaRPr sz="1516" dirty="0">
              <a:solidFill>
                <a:schemeClr val="dk2"/>
              </a:solidFill>
            </a:endParaRPr>
          </a:p>
          <a:p>
            <a:pPr marL="457200" lvl="0" indent="-324862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16"/>
              <a:buChar char="●"/>
            </a:pPr>
            <a:r>
              <a:rPr lang="en" sz="1516" dirty="0">
                <a:solidFill>
                  <a:schemeClr val="dk2"/>
                </a:solidFill>
              </a:rPr>
              <a:t>Example:</a:t>
            </a:r>
            <a:endParaRPr sz="1516" dirty="0">
              <a:solidFill>
                <a:schemeClr val="dk2"/>
              </a:solidFill>
            </a:endParaRPr>
          </a:p>
          <a:p>
            <a:pPr marL="914400" lvl="1" indent="-324862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16"/>
              <a:buChar char="○"/>
            </a:pPr>
            <a:r>
              <a:rPr lang="en" sz="1516" dirty="0">
                <a:solidFill>
                  <a:schemeClr val="dk2"/>
                </a:solidFill>
              </a:rPr>
              <a:t>Person</a:t>
            </a:r>
            <a:endParaRPr sz="1516" dirty="0">
              <a:solidFill>
                <a:schemeClr val="dk2"/>
              </a:solidFill>
            </a:endParaRPr>
          </a:p>
          <a:p>
            <a:pPr marL="914400" lvl="1" indent="-324862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16"/>
              <a:buChar char="○"/>
            </a:pPr>
            <a:r>
              <a:rPr lang="en" sz="1516" dirty="0">
                <a:solidFill>
                  <a:schemeClr val="dk2"/>
                </a:solidFill>
              </a:rPr>
              <a:t>⬇</a:t>
            </a:r>
            <a:endParaRPr sz="1516" dirty="0">
              <a:solidFill>
                <a:schemeClr val="dk2"/>
              </a:solidFill>
            </a:endParaRPr>
          </a:p>
          <a:p>
            <a:pPr marL="914400" lvl="1" indent="-324862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16"/>
              <a:buChar char="○"/>
            </a:pPr>
            <a:r>
              <a:rPr lang="en" sz="1516" dirty="0">
                <a:solidFill>
                  <a:schemeClr val="dk2"/>
                </a:solidFill>
              </a:rPr>
              <a:t>Student</a:t>
            </a:r>
            <a:endParaRPr sz="1516" dirty="0">
              <a:solidFill>
                <a:schemeClr val="dk2"/>
              </a:solidFill>
            </a:endParaRPr>
          </a:p>
          <a:p>
            <a:pPr marL="914400" lvl="1" indent="-324862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16"/>
              <a:buChar char="○"/>
            </a:pPr>
            <a:r>
              <a:rPr lang="en" sz="1516" dirty="0">
                <a:solidFill>
                  <a:schemeClr val="dk2"/>
                </a:solidFill>
              </a:rPr>
              <a:t>Faculty</a:t>
            </a:r>
            <a:endParaRPr sz="1516" dirty="0">
              <a:solidFill>
                <a:schemeClr val="dk2"/>
              </a:solidFill>
            </a:endParaRPr>
          </a:p>
          <a:p>
            <a:pPr marL="457200" lvl="0" indent="-324862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16"/>
              <a:buChar char="●"/>
            </a:pPr>
            <a:r>
              <a:rPr lang="en" sz="1516" dirty="0">
                <a:solidFill>
                  <a:schemeClr val="dk2"/>
                </a:solidFill>
              </a:rPr>
              <a:t>Student</a:t>
            </a:r>
            <a:endParaRPr sz="1516" dirty="0">
              <a:solidFill>
                <a:schemeClr val="dk2"/>
              </a:solidFill>
            </a:endParaRPr>
          </a:p>
          <a:p>
            <a:pPr marL="914400" lvl="1" indent="-324862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16"/>
              <a:buChar char="○"/>
            </a:pPr>
            <a:r>
              <a:rPr lang="en" sz="1516" dirty="0">
                <a:solidFill>
                  <a:schemeClr val="dk2"/>
                </a:solidFill>
              </a:rPr>
              <a:t>⬇</a:t>
            </a:r>
            <a:endParaRPr sz="1516" dirty="0">
              <a:solidFill>
                <a:schemeClr val="dk2"/>
              </a:solidFill>
            </a:endParaRPr>
          </a:p>
          <a:p>
            <a:pPr marL="914400" lvl="1" indent="-324862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16"/>
              <a:buChar char="○"/>
            </a:pPr>
            <a:r>
              <a:rPr lang="en" sz="1516" dirty="0">
                <a:solidFill>
                  <a:schemeClr val="dk2"/>
                </a:solidFill>
              </a:rPr>
              <a:t>Undergraduate Student</a:t>
            </a:r>
            <a:endParaRPr sz="1516" dirty="0">
              <a:solidFill>
                <a:schemeClr val="dk2"/>
              </a:solidFill>
            </a:endParaRPr>
          </a:p>
          <a:p>
            <a:pPr marL="914400" lvl="1" indent="-324862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16"/>
              <a:buChar char="○"/>
            </a:pPr>
            <a:r>
              <a:rPr lang="en" sz="1516" dirty="0">
                <a:solidFill>
                  <a:schemeClr val="dk2"/>
                </a:solidFill>
              </a:rPr>
              <a:t>Postgraduate Student</a:t>
            </a:r>
            <a:endParaRPr sz="1613" dirty="0">
              <a:solidFill>
                <a:schemeClr val="dk2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ADVANTAGES &amp; CONCLUSION</a:t>
            </a:r>
            <a:endParaRPr lang="en-US" dirty="0"/>
          </a:p>
        </p:txBody>
      </p:sp>
      <p:sp>
        <p:nvSpPr>
          <p:cNvPr id="159" name="Google Shape;159;p33"/>
          <p:cNvSpPr txBox="1">
            <a:spLocks noGrp="1"/>
          </p:cNvSpPr>
          <p:nvPr>
            <p:ph type="body" idx="1"/>
          </p:nvPr>
        </p:nvSpPr>
        <p:spPr>
          <a:xfrm>
            <a:off x="311700" y="1234075"/>
            <a:ext cx="8520600" cy="333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n" sz="1700" b="1" dirty="0">
                <a:latin typeface="Arial"/>
                <a:ea typeface="Arial"/>
                <a:cs typeface="Arial"/>
                <a:sym typeface="Arial"/>
              </a:rPr>
              <a:t>Advantages of EER </a:t>
            </a:r>
            <a:r>
              <a:rPr lang="en" sz="1700" b="1" dirty="0" smtClean="0">
                <a:latin typeface="Arial"/>
                <a:ea typeface="Arial"/>
                <a:cs typeface="Arial"/>
                <a:sym typeface="Arial"/>
              </a:rPr>
              <a:t>Model:</a:t>
            </a:r>
            <a:endParaRPr sz="17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1150" algn="l" rtl="0">
              <a:spcBef>
                <a:spcPts val="1200"/>
              </a:spcBef>
              <a:spcAft>
                <a:spcPts val="0"/>
              </a:spcAft>
              <a:buSzPts val="1300"/>
              <a:buFont typeface="Arial"/>
              <a:buChar char="●"/>
            </a:pPr>
            <a:r>
              <a:rPr lang="en" sz="1600" dirty="0">
                <a:latin typeface="Arial"/>
                <a:ea typeface="Arial"/>
                <a:cs typeface="Arial"/>
                <a:sym typeface="Arial"/>
              </a:rPr>
              <a:t>Models complex real-world systems.</a:t>
            </a:r>
            <a:endParaRPr sz="16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Arial"/>
              <a:buChar char="●"/>
            </a:pPr>
            <a:r>
              <a:rPr lang="en" sz="1600" dirty="0">
                <a:latin typeface="Arial"/>
                <a:ea typeface="Arial"/>
                <a:cs typeface="Arial"/>
                <a:sym typeface="Arial"/>
              </a:rPr>
              <a:t>Supports inheritance of attributes.</a:t>
            </a:r>
            <a:endParaRPr sz="16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Arial"/>
              <a:buChar char="●"/>
            </a:pPr>
            <a:r>
              <a:rPr lang="en" sz="1600" dirty="0">
                <a:latin typeface="Arial"/>
                <a:ea typeface="Arial"/>
                <a:cs typeface="Arial"/>
                <a:sym typeface="Arial"/>
              </a:rPr>
              <a:t>Reduces redundancy.</a:t>
            </a:r>
            <a:endParaRPr sz="16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Arial"/>
              <a:buChar char="●"/>
            </a:pPr>
            <a:r>
              <a:rPr lang="en" sz="1600" dirty="0">
                <a:latin typeface="Arial"/>
                <a:ea typeface="Arial"/>
                <a:cs typeface="Arial"/>
                <a:sym typeface="Arial"/>
              </a:rPr>
              <a:t>Improves database organization.</a:t>
            </a:r>
            <a:endParaRPr sz="16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Arial"/>
              <a:buChar char="●"/>
            </a:pPr>
            <a:r>
              <a:rPr lang="en" sz="1600" dirty="0">
                <a:latin typeface="Arial"/>
                <a:ea typeface="Arial"/>
                <a:cs typeface="Arial"/>
                <a:sym typeface="Arial"/>
              </a:rPr>
              <a:t>Makes database maintenance easier.</a:t>
            </a:r>
            <a:endParaRPr sz="16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n" sz="1700" b="1" dirty="0" smtClean="0">
                <a:latin typeface="Arial"/>
                <a:ea typeface="Arial"/>
                <a:cs typeface="Arial"/>
                <a:sym typeface="Arial"/>
              </a:rPr>
              <a:t>Conclusion</a:t>
            </a:r>
            <a:r>
              <a:rPr lang="en-US" sz="1700" b="1" dirty="0" smtClean="0">
                <a:latin typeface="Arial"/>
                <a:ea typeface="Arial"/>
                <a:cs typeface="Arial"/>
                <a:sym typeface="Arial"/>
              </a:rPr>
              <a:t>:</a:t>
            </a:r>
            <a:endParaRPr sz="17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2180" algn="l" rtl="0">
              <a:spcBef>
                <a:spcPts val="1200"/>
              </a:spcBef>
              <a:spcAft>
                <a:spcPts val="0"/>
              </a:spcAft>
              <a:buSzPts val="1316"/>
              <a:buFont typeface="Arial"/>
              <a:buChar char="●"/>
            </a:pPr>
            <a:r>
              <a:rPr lang="en" sz="1600" dirty="0">
                <a:latin typeface="Arial"/>
                <a:ea typeface="Arial"/>
                <a:cs typeface="Arial"/>
                <a:sym typeface="Arial"/>
              </a:rPr>
              <a:t>EER extends the traditional ER model.</a:t>
            </a:r>
            <a:endParaRPr sz="16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2180" algn="l" rtl="0">
              <a:spcBef>
                <a:spcPts val="0"/>
              </a:spcBef>
              <a:spcAft>
                <a:spcPts val="0"/>
              </a:spcAft>
              <a:buSzPts val="1316"/>
              <a:buFont typeface="Arial"/>
              <a:buChar char="●"/>
            </a:pPr>
            <a:r>
              <a:rPr lang="en" sz="1600" dirty="0">
                <a:latin typeface="Arial"/>
                <a:ea typeface="Arial"/>
                <a:cs typeface="Arial"/>
                <a:sym typeface="Arial"/>
              </a:rPr>
              <a:t>Generalization and Specialization improve database flexibility.</a:t>
            </a:r>
            <a:endParaRPr sz="16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2180" algn="l" rtl="0">
              <a:spcBef>
                <a:spcPts val="0"/>
              </a:spcBef>
              <a:spcAft>
                <a:spcPts val="0"/>
              </a:spcAft>
              <a:buSzPts val="1316"/>
              <a:buFont typeface="Arial"/>
              <a:buChar char="●"/>
            </a:pPr>
            <a:r>
              <a:rPr lang="en" sz="1600" dirty="0">
                <a:latin typeface="Arial"/>
                <a:ea typeface="Arial"/>
                <a:cs typeface="Arial"/>
                <a:sym typeface="Arial"/>
              </a:rPr>
              <a:t>The University case study demonstrates efficient modeling of people and their roles.</a:t>
            </a:r>
            <a:endParaRPr sz="16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4"/>
          <p:cNvSpPr txBox="1">
            <a:spLocks noGrp="1"/>
          </p:cNvSpPr>
          <p:nvPr>
            <p:ph type="title"/>
          </p:nvPr>
        </p:nvSpPr>
        <p:spPr>
          <a:xfrm>
            <a:off x="227150" y="3886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</a:t>
            </a:r>
            <a:endParaRPr/>
          </a:p>
        </p:txBody>
      </p:sp>
      <p:sp>
        <p:nvSpPr>
          <p:cNvPr id="165" name="Google Shape;165;p34"/>
          <p:cNvSpPr txBox="1">
            <a:spLocks noGrp="1"/>
          </p:cNvSpPr>
          <p:nvPr>
            <p:ph type="body" idx="1"/>
          </p:nvPr>
        </p:nvSpPr>
        <p:spPr>
          <a:xfrm>
            <a:off x="297739" y="358541"/>
            <a:ext cx="8520600" cy="333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2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endParaRPr sz="26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n" b="1" dirty="0" smtClean="0">
                <a:latin typeface="Arial"/>
                <a:ea typeface="Arial"/>
                <a:cs typeface="Arial"/>
                <a:sym typeface="Arial"/>
              </a:rPr>
              <a:t>3) Data </a:t>
            </a:r>
            <a:r>
              <a:rPr lang="en" b="1" dirty="0">
                <a:latin typeface="Arial"/>
                <a:ea typeface="Arial"/>
                <a:cs typeface="Arial"/>
                <a:sym typeface="Arial"/>
              </a:rPr>
              <a:t>Independence in DBMS</a:t>
            </a:r>
            <a:endParaRPr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n" sz="1600" b="1" dirty="0">
                <a:latin typeface="Arial"/>
                <a:ea typeface="Arial"/>
                <a:cs typeface="Arial"/>
                <a:sym typeface="Arial"/>
              </a:rPr>
              <a:t>What is Data Independence?</a:t>
            </a:r>
            <a:endParaRPr sz="16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Data Independence is the ability to modify the database schema without affecting application programs.</a:t>
            </a:r>
            <a:endParaRPr sz="14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It allows changes at one level of the database without impacting higher levels.</a:t>
            </a:r>
            <a:endParaRPr sz="14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It is achieved through the </a:t>
            </a:r>
            <a:r>
              <a:rPr lang="en" sz="1400" b="1" dirty="0">
                <a:latin typeface="Arial"/>
                <a:ea typeface="Arial"/>
                <a:cs typeface="Arial"/>
                <a:sym typeface="Arial"/>
              </a:rPr>
              <a:t>three-level DBMS architecture (ANSI/SPARC)</a:t>
            </a: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.</a:t>
            </a:r>
            <a:endParaRPr sz="14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n" sz="1600" b="1" dirty="0">
                <a:latin typeface="Arial"/>
                <a:ea typeface="Arial"/>
                <a:cs typeface="Arial"/>
                <a:sym typeface="Arial"/>
              </a:rPr>
              <a:t>Types of Data </a:t>
            </a:r>
            <a:r>
              <a:rPr lang="en" sz="1600" b="1" dirty="0" smtClean="0">
                <a:latin typeface="Arial"/>
                <a:ea typeface="Arial"/>
                <a:cs typeface="Arial"/>
                <a:sym typeface="Arial"/>
              </a:rPr>
              <a:t>Independence:</a:t>
            </a:r>
            <a:endParaRPr sz="16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 b="1" dirty="0">
                <a:latin typeface="Arial"/>
                <a:ea typeface="Arial"/>
                <a:cs typeface="Arial"/>
                <a:sym typeface="Arial"/>
              </a:rPr>
              <a:t>Physical Data Independence</a:t>
            </a:r>
            <a:endParaRPr sz="14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 b="1" dirty="0">
                <a:latin typeface="Arial"/>
                <a:ea typeface="Arial"/>
                <a:cs typeface="Arial"/>
                <a:sym typeface="Arial"/>
              </a:rPr>
              <a:t>Logical Data Independence</a:t>
            </a:r>
            <a:endParaRPr sz="14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2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DBMS THREE-LEVEL ARCHITECTURE</a:t>
            </a:r>
            <a:endParaRPr lang="en-US" dirty="0"/>
          </a:p>
        </p:txBody>
      </p:sp>
      <p:pic>
        <p:nvPicPr>
          <p:cNvPr id="172" name="Google Shape;172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01512" y="1327752"/>
            <a:ext cx="6740975" cy="2978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6"/>
          <p:cNvSpPr txBox="1">
            <a:spLocks noGrp="1"/>
          </p:cNvSpPr>
          <p:nvPr>
            <p:ph type="title"/>
          </p:nvPr>
        </p:nvSpPr>
        <p:spPr>
          <a:xfrm>
            <a:off x="311700" y="2759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TYPES OF DATA INDEPENDENCE</a:t>
            </a:r>
            <a:endParaRPr lang="en-US" dirty="0"/>
          </a:p>
        </p:txBody>
      </p:sp>
      <p:sp>
        <p:nvSpPr>
          <p:cNvPr id="178" name="Google Shape;178;p36"/>
          <p:cNvSpPr txBox="1">
            <a:spLocks noGrp="1"/>
          </p:cNvSpPr>
          <p:nvPr>
            <p:ph type="body" idx="1"/>
          </p:nvPr>
        </p:nvSpPr>
        <p:spPr>
          <a:xfrm>
            <a:off x="311700" y="848625"/>
            <a:ext cx="8520600" cy="333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605"/>
              <a:buFont typeface="Arial"/>
              <a:buNone/>
            </a:pPr>
            <a:r>
              <a:rPr lang="en" sz="1435" b="1" dirty="0">
                <a:latin typeface="Arial"/>
                <a:ea typeface="Arial"/>
                <a:cs typeface="Arial"/>
                <a:sym typeface="Arial"/>
              </a:rPr>
              <a:t>1. Physical Data </a:t>
            </a:r>
            <a:r>
              <a:rPr lang="en" sz="1435" b="1" dirty="0" smtClean="0">
                <a:latin typeface="Arial"/>
                <a:ea typeface="Arial"/>
                <a:cs typeface="Arial"/>
                <a:sym typeface="Arial"/>
              </a:rPr>
              <a:t>Independence:</a:t>
            </a:r>
            <a:endParaRPr sz="1435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2748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483"/>
              <a:buFont typeface="Arial"/>
              <a:buChar char="●"/>
            </a:pPr>
            <a:r>
              <a:rPr lang="en" sz="1483" dirty="0">
                <a:latin typeface="Arial"/>
                <a:ea typeface="Arial"/>
                <a:cs typeface="Arial"/>
                <a:sym typeface="Arial"/>
              </a:rPr>
              <a:t>Changes in physical storage do not affect the conceptual schema.</a:t>
            </a:r>
            <a:endParaRPr sz="1483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2748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83"/>
              <a:buFont typeface="Arial"/>
              <a:buChar char="●"/>
            </a:pPr>
            <a:r>
              <a:rPr lang="en" sz="1483" dirty="0">
                <a:latin typeface="Arial"/>
                <a:ea typeface="Arial"/>
                <a:cs typeface="Arial"/>
                <a:sym typeface="Arial"/>
              </a:rPr>
              <a:t>Examples:</a:t>
            </a:r>
            <a:endParaRPr sz="1483" dirty="0">
              <a:latin typeface="Arial"/>
              <a:ea typeface="Arial"/>
              <a:cs typeface="Arial"/>
              <a:sym typeface="Arial"/>
            </a:endParaRPr>
          </a:p>
          <a:p>
            <a:pPr marL="914400" lvl="1" indent="-322748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83"/>
              <a:buFont typeface="Arial"/>
              <a:buChar char="○"/>
            </a:pPr>
            <a:r>
              <a:rPr lang="en" sz="1483" dirty="0">
                <a:latin typeface="Arial"/>
                <a:ea typeface="Arial"/>
                <a:cs typeface="Arial"/>
                <a:sym typeface="Arial"/>
              </a:rPr>
              <a:t>Changing file organization</a:t>
            </a:r>
            <a:endParaRPr sz="1483" dirty="0">
              <a:latin typeface="Arial"/>
              <a:ea typeface="Arial"/>
              <a:cs typeface="Arial"/>
              <a:sym typeface="Arial"/>
            </a:endParaRPr>
          </a:p>
          <a:p>
            <a:pPr marL="914400" lvl="1" indent="-322748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83"/>
              <a:buFont typeface="Arial"/>
              <a:buChar char="○"/>
            </a:pPr>
            <a:r>
              <a:rPr lang="en" sz="1483" dirty="0">
                <a:latin typeface="Arial"/>
                <a:ea typeface="Arial"/>
                <a:cs typeface="Arial"/>
                <a:sym typeface="Arial"/>
              </a:rPr>
              <a:t>Creating indexes</a:t>
            </a:r>
            <a:endParaRPr sz="1483" dirty="0">
              <a:latin typeface="Arial"/>
              <a:ea typeface="Arial"/>
              <a:cs typeface="Arial"/>
              <a:sym typeface="Arial"/>
            </a:endParaRPr>
          </a:p>
          <a:p>
            <a:pPr marL="914400" lvl="1" indent="-322748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83"/>
              <a:buFont typeface="Arial"/>
              <a:buChar char="○"/>
            </a:pPr>
            <a:r>
              <a:rPr lang="en" sz="1483" dirty="0">
                <a:latin typeface="Arial"/>
                <a:ea typeface="Arial"/>
                <a:cs typeface="Arial"/>
                <a:sym typeface="Arial"/>
              </a:rPr>
              <a:t>Changing storage devices</a:t>
            </a:r>
            <a:endParaRPr sz="1483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2748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83"/>
              <a:buFont typeface="Arial"/>
              <a:buChar char="●"/>
            </a:pPr>
            <a:r>
              <a:rPr lang="en" sz="1483" dirty="0">
                <a:latin typeface="Arial"/>
                <a:ea typeface="Arial"/>
                <a:cs typeface="Arial"/>
                <a:sym typeface="Arial"/>
              </a:rPr>
              <a:t>Easier to achieve.</a:t>
            </a:r>
            <a:endParaRPr sz="1105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605"/>
              <a:buFont typeface="Arial"/>
              <a:buNone/>
            </a:pPr>
            <a:r>
              <a:rPr lang="en" sz="1435" b="1" dirty="0">
                <a:latin typeface="Arial"/>
                <a:ea typeface="Arial"/>
                <a:cs typeface="Arial"/>
                <a:sym typeface="Arial"/>
              </a:rPr>
              <a:t>2. Logical Data </a:t>
            </a:r>
            <a:r>
              <a:rPr lang="en" sz="1435" b="1" dirty="0" smtClean="0">
                <a:latin typeface="Arial"/>
                <a:ea typeface="Arial"/>
                <a:cs typeface="Arial"/>
                <a:sym typeface="Arial"/>
              </a:rPr>
              <a:t>Independence:</a:t>
            </a:r>
            <a:endParaRPr sz="1435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8232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569"/>
              <a:buFont typeface="Arial"/>
              <a:buChar char="●"/>
            </a:pPr>
            <a:r>
              <a:rPr lang="en" sz="1569" dirty="0">
                <a:latin typeface="Arial"/>
                <a:ea typeface="Arial"/>
                <a:cs typeface="Arial"/>
                <a:sym typeface="Arial"/>
              </a:rPr>
              <a:t>Changes in the conceptual schema do not affect user views.</a:t>
            </a:r>
            <a:endParaRPr sz="1569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8232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569"/>
              <a:buFont typeface="Arial"/>
              <a:buChar char="●"/>
            </a:pPr>
            <a:r>
              <a:rPr lang="en" sz="1569" dirty="0">
                <a:latin typeface="Arial"/>
                <a:ea typeface="Arial"/>
                <a:cs typeface="Arial"/>
                <a:sym typeface="Arial"/>
              </a:rPr>
              <a:t>Examples:</a:t>
            </a:r>
            <a:endParaRPr sz="1569" dirty="0">
              <a:latin typeface="Arial"/>
              <a:ea typeface="Arial"/>
              <a:cs typeface="Arial"/>
              <a:sym typeface="Arial"/>
            </a:endParaRPr>
          </a:p>
          <a:p>
            <a:pPr marL="914400" lvl="1" indent="-328232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569"/>
              <a:buFont typeface="Arial"/>
              <a:buChar char="○"/>
            </a:pPr>
            <a:r>
              <a:rPr lang="en" sz="1569" dirty="0">
                <a:latin typeface="Arial"/>
                <a:ea typeface="Arial"/>
                <a:cs typeface="Arial"/>
                <a:sym typeface="Arial"/>
              </a:rPr>
              <a:t>Adding new attributes</a:t>
            </a:r>
            <a:endParaRPr sz="1569" dirty="0">
              <a:latin typeface="Arial"/>
              <a:ea typeface="Arial"/>
              <a:cs typeface="Arial"/>
              <a:sym typeface="Arial"/>
            </a:endParaRPr>
          </a:p>
          <a:p>
            <a:pPr marL="914400" lvl="1" indent="-328232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569"/>
              <a:buFont typeface="Arial"/>
              <a:buChar char="○"/>
            </a:pPr>
            <a:r>
              <a:rPr lang="en" sz="1569" dirty="0">
                <a:latin typeface="Arial"/>
                <a:ea typeface="Arial"/>
                <a:cs typeface="Arial"/>
                <a:sym typeface="Arial"/>
              </a:rPr>
              <a:t>Adding new entities</a:t>
            </a:r>
            <a:endParaRPr sz="1569" dirty="0">
              <a:latin typeface="Arial"/>
              <a:ea typeface="Arial"/>
              <a:cs typeface="Arial"/>
              <a:sym typeface="Arial"/>
            </a:endParaRPr>
          </a:p>
          <a:p>
            <a:pPr marL="914400" lvl="1" indent="-328232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569"/>
              <a:buFont typeface="Arial"/>
              <a:buChar char="○"/>
            </a:pPr>
            <a:r>
              <a:rPr lang="en" sz="1569" dirty="0">
                <a:latin typeface="Arial"/>
                <a:ea typeface="Arial"/>
                <a:cs typeface="Arial"/>
                <a:sym typeface="Arial"/>
              </a:rPr>
              <a:t>Modifying relationships</a:t>
            </a:r>
            <a:endParaRPr sz="1569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8232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569"/>
              <a:buFont typeface="Arial"/>
              <a:buChar char="●"/>
            </a:pPr>
            <a:r>
              <a:rPr lang="en" sz="1569" dirty="0">
                <a:latin typeface="Arial"/>
                <a:ea typeface="Arial"/>
                <a:cs typeface="Arial"/>
                <a:sym typeface="Arial"/>
              </a:rPr>
              <a:t>More difficult to achieve.</a:t>
            </a:r>
            <a:endParaRPr sz="1569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605"/>
              <a:buNone/>
            </a:pPr>
            <a:endParaRPr sz="149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7"/>
          <p:cNvSpPr txBox="1">
            <a:spLocks noGrp="1"/>
          </p:cNvSpPr>
          <p:nvPr>
            <p:ph type="title"/>
          </p:nvPr>
        </p:nvSpPr>
        <p:spPr>
          <a:xfrm>
            <a:off x="304720" y="24958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SIGNIFICANCE &amp; CONCLUSION</a:t>
            </a:r>
            <a:endParaRPr lang="en-US" dirty="0"/>
          </a:p>
        </p:txBody>
      </p:sp>
      <p:sp>
        <p:nvSpPr>
          <p:cNvPr id="184" name="Google Shape;184;p37"/>
          <p:cNvSpPr txBox="1">
            <a:spLocks noGrp="1"/>
          </p:cNvSpPr>
          <p:nvPr>
            <p:ph type="body" idx="1"/>
          </p:nvPr>
        </p:nvSpPr>
        <p:spPr>
          <a:xfrm>
            <a:off x="243035" y="822281"/>
            <a:ext cx="8990100" cy="377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n" sz="1700" b="1" dirty="0">
                <a:latin typeface="Arial"/>
                <a:ea typeface="Arial"/>
                <a:cs typeface="Arial"/>
                <a:sym typeface="Arial"/>
              </a:rPr>
              <a:t>Significance of Data </a:t>
            </a:r>
            <a:r>
              <a:rPr lang="en" sz="1700" b="1" dirty="0" smtClean="0">
                <a:latin typeface="Arial"/>
                <a:ea typeface="Arial"/>
                <a:cs typeface="Arial"/>
                <a:sym typeface="Arial"/>
              </a:rPr>
              <a:t>Independence:</a:t>
            </a:r>
            <a:endParaRPr sz="17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7121" algn="l" rtl="0">
              <a:spcBef>
                <a:spcPts val="1200"/>
              </a:spcBef>
              <a:spcAft>
                <a:spcPts val="0"/>
              </a:spcAft>
              <a:buSzPts val="1552"/>
              <a:buFont typeface="Arial"/>
              <a:buChar char="●"/>
            </a:pPr>
            <a:r>
              <a:rPr lang="en" sz="1552" dirty="0">
                <a:latin typeface="Arial"/>
                <a:ea typeface="Arial"/>
                <a:cs typeface="Arial"/>
                <a:sym typeface="Arial"/>
              </a:rPr>
              <a:t>Reduces application maintenance.</a:t>
            </a:r>
            <a:endParaRPr sz="1552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7121" algn="l" rtl="0">
              <a:spcBef>
                <a:spcPts val="0"/>
              </a:spcBef>
              <a:spcAft>
                <a:spcPts val="0"/>
              </a:spcAft>
              <a:buSzPts val="1552"/>
              <a:buFont typeface="Arial"/>
              <a:buChar char="●"/>
            </a:pPr>
            <a:r>
              <a:rPr lang="en" sz="1552" dirty="0">
                <a:latin typeface="Arial"/>
                <a:ea typeface="Arial"/>
                <a:cs typeface="Arial"/>
                <a:sym typeface="Arial"/>
              </a:rPr>
              <a:t>Provides flexibility in database design.</a:t>
            </a:r>
            <a:endParaRPr sz="1552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7121" algn="l" rtl="0">
              <a:spcBef>
                <a:spcPts val="0"/>
              </a:spcBef>
              <a:spcAft>
                <a:spcPts val="0"/>
              </a:spcAft>
              <a:buSzPts val="1552"/>
              <a:buFont typeface="Arial"/>
              <a:buChar char="●"/>
            </a:pPr>
            <a:r>
              <a:rPr lang="en" sz="1552" dirty="0">
                <a:latin typeface="Arial"/>
                <a:ea typeface="Arial"/>
                <a:cs typeface="Arial"/>
                <a:sym typeface="Arial"/>
              </a:rPr>
              <a:t>Improves data consistency.</a:t>
            </a:r>
            <a:endParaRPr sz="1552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7121" algn="l" rtl="0">
              <a:spcBef>
                <a:spcPts val="0"/>
              </a:spcBef>
              <a:spcAft>
                <a:spcPts val="0"/>
              </a:spcAft>
              <a:buSzPts val="1552"/>
              <a:buFont typeface="Arial"/>
              <a:buChar char="●"/>
            </a:pPr>
            <a:r>
              <a:rPr lang="en" sz="1552" dirty="0">
                <a:latin typeface="Arial"/>
                <a:ea typeface="Arial"/>
                <a:cs typeface="Arial"/>
                <a:sym typeface="Arial"/>
              </a:rPr>
              <a:t>Enhances scalability.</a:t>
            </a:r>
            <a:endParaRPr sz="1552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7121" algn="l" rtl="0">
              <a:spcBef>
                <a:spcPts val="0"/>
              </a:spcBef>
              <a:spcAft>
                <a:spcPts val="0"/>
              </a:spcAft>
              <a:buSzPts val="1552"/>
              <a:buFont typeface="Arial"/>
              <a:buChar char="●"/>
            </a:pPr>
            <a:r>
              <a:rPr lang="en" sz="1552" dirty="0">
                <a:latin typeface="Arial"/>
                <a:ea typeface="Arial"/>
                <a:cs typeface="Arial"/>
                <a:sym typeface="Arial"/>
              </a:rPr>
              <a:t>Simplifies database administration.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n" sz="1700" b="1" dirty="0" smtClean="0">
                <a:latin typeface="Arial"/>
                <a:ea typeface="Arial"/>
                <a:cs typeface="Arial"/>
                <a:sym typeface="Arial"/>
              </a:rPr>
              <a:t>Conclusion:</a:t>
            </a:r>
            <a:endParaRPr sz="17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30501" algn="l" rtl="0">
              <a:spcBef>
                <a:spcPts val="1200"/>
              </a:spcBef>
              <a:spcAft>
                <a:spcPts val="0"/>
              </a:spcAft>
              <a:buSzPts val="1605"/>
              <a:buFont typeface="Arial"/>
              <a:buChar char="●"/>
            </a:pPr>
            <a:r>
              <a:rPr lang="en" sz="1605" dirty="0">
                <a:latin typeface="Arial"/>
                <a:ea typeface="Arial"/>
                <a:cs typeface="Arial"/>
                <a:sym typeface="Arial"/>
              </a:rPr>
              <a:t>Data Independence is a key feature of DBMS architecture.</a:t>
            </a:r>
            <a:endParaRPr sz="1605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30501" algn="l" rtl="0">
              <a:spcBef>
                <a:spcPts val="0"/>
              </a:spcBef>
              <a:spcAft>
                <a:spcPts val="0"/>
              </a:spcAft>
              <a:buSzPts val="1605"/>
              <a:buFont typeface="Arial"/>
              <a:buChar char="●"/>
            </a:pPr>
            <a:r>
              <a:rPr lang="en" sz="1605" dirty="0">
                <a:latin typeface="Arial"/>
                <a:ea typeface="Arial"/>
                <a:cs typeface="Arial"/>
                <a:sym typeface="Arial"/>
              </a:rPr>
              <a:t>Physical Data Independence deals with storage changes.</a:t>
            </a:r>
            <a:endParaRPr sz="1605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30501" algn="l" rtl="0">
              <a:spcBef>
                <a:spcPts val="0"/>
              </a:spcBef>
              <a:spcAft>
                <a:spcPts val="0"/>
              </a:spcAft>
              <a:buSzPts val="1605"/>
              <a:buFont typeface="Arial"/>
              <a:buChar char="●"/>
            </a:pPr>
            <a:r>
              <a:rPr lang="en" sz="1605" dirty="0">
                <a:latin typeface="Arial"/>
                <a:ea typeface="Arial"/>
                <a:cs typeface="Arial"/>
                <a:sym typeface="Arial"/>
              </a:rPr>
              <a:t>Logical Data Independence deals with schema changes.</a:t>
            </a:r>
            <a:endParaRPr sz="1605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30501" algn="l" rtl="0">
              <a:spcBef>
                <a:spcPts val="0"/>
              </a:spcBef>
              <a:spcAft>
                <a:spcPts val="0"/>
              </a:spcAft>
              <a:buSzPts val="1605"/>
              <a:buFont typeface="Arial"/>
              <a:buChar char="●"/>
            </a:pPr>
            <a:r>
              <a:rPr lang="en" sz="1605" dirty="0">
                <a:latin typeface="Arial"/>
                <a:ea typeface="Arial"/>
                <a:cs typeface="Arial"/>
                <a:sym typeface="Arial"/>
              </a:rPr>
              <a:t>It makes databases reliable, maintainable, and scalable.</a:t>
            </a:r>
            <a:endParaRPr sz="1605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8"/>
          <p:cNvSpPr txBox="1">
            <a:spLocks noGrp="1"/>
          </p:cNvSpPr>
          <p:nvPr>
            <p:ph type="title"/>
          </p:nvPr>
        </p:nvSpPr>
        <p:spPr>
          <a:xfrm>
            <a:off x="311700" y="2664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 </a:t>
            </a:r>
            <a:endParaRPr/>
          </a:p>
        </p:txBody>
      </p:sp>
      <p:sp>
        <p:nvSpPr>
          <p:cNvPr id="190" name="Google Shape;190;p38"/>
          <p:cNvSpPr txBox="1">
            <a:spLocks noGrp="1"/>
          </p:cNvSpPr>
          <p:nvPr>
            <p:ph type="body" idx="1"/>
          </p:nvPr>
        </p:nvSpPr>
        <p:spPr>
          <a:xfrm>
            <a:off x="240600" y="947313"/>
            <a:ext cx="8662800" cy="352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n" sz="1700" b="1" dirty="0" smtClean="0">
                <a:latin typeface="Arial"/>
                <a:ea typeface="Arial"/>
                <a:cs typeface="Arial"/>
                <a:sym typeface="Arial"/>
              </a:rPr>
              <a:t>4) Software </a:t>
            </a:r>
            <a:r>
              <a:rPr lang="en" sz="1700" b="1" dirty="0">
                <a:latin typeface="Arial"/>
                <a:ea typeface="Arial"/>
                <a:cs typeface="Arial"/>
                <a:sym typeface="Arial"/>
              </a:rPr>
              <a:t>Components of a DBMS</a:t>
            </a:r>
            <a:endParaRPr sz="17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n" sz="1600" b="1" dirty="0">
                <a:latin typeface="Arial"/>
                <a:ea typeface="Arial"/>
                <a:cs typeface="Arial"/>
                <a:sym typeface="Arial"/>
              </a:rPr>
              <a:t>What is a DBMS?</a:t>
            </a:r>
            <a:endParaRPr sz="16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120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A Database Management System (DBMS) is software used to create, store, retrieve, and manage data.</a:t>
            </a:r>
            <a:endParaRPr sz="14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 dirty="0">
                <a:latin typeface="Arial"/>
                <a:ea typeface="Arial"/>
                <a:cs typeface="Arial"/>
                <a:sym typeface="Arial"/>
              </a:rPr>
              <a:t>It acts as an interface between users and the database.</a:t>
            </a:r>
            <a:endParaRPr sz="14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n" sz="1600" b="1" dirty="0">
                <a:latin typeface="Arial"/>
                <a:ea typeface="Arial"/>
                <a:cs typeface="Arial"/>
                <a:sym typeface="Arial"/>
              </a:rPr>
              <a:t>Main Software </a:t>
            </a:r>
            <a:r>
              <a:rPr lang="en" sz="1600" b="1" dirty="0" smtClean="0">
                <a:latin typeface="Arial"/>
                <a:ea typeface="Arial"/>
                <a:cs typeface="Arial"/>
                <a:sym typeface="Arial"/>
              </a:rPr>
              <a:t>Components:</a:t>
            </a:r>
            <a:endParaRPr sz="16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120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 b="1" dirty="0">
                <a:latin typeface="Arial"/>
                <a:ea typeface="Arial"/>
                <a:cs typeface="Arial"/>
                <a:sym typeface="Arial"/>
              </a:rPr>
              <a:t>Query Processor</a:t>
            </a:r>
            <a:endParaRPr sz="14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 b="1" dirty="0">
                <a:latin typeface="Arial"/>
                <a:ea typeface="Arial"/>
                <a:cs typeface="Arial"/>
                <a:sym typeface="Arial"/>
              </a:rPr>
              <a:t>Storage Manager</a:t>
            </a:r>
            <a:endParaRPr sz="14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en" sz="1400" b="1" dirty="0">
                <a:latin typeface="Arial"/>
                <a:ea typeface="Arial"/>
                <a:cs typeface="Arial"/>
                <a:sym typeface="Arial"/>
              </a:rPr>
              <a:t>Transaction Manager</a:t>
            </a:r>
            <a:endParaRPr sz="2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9"/>
          <p:cNvSpPr txBox="1">
            <a:spLocks noGrp="1"/>
          </p:cNvSpPr>
          <p:nvPr>
            <p:ph type="title"/>
          </p:nvPr>
        </p:nvSpPr>
        <p:spPr>
          <a:xfrm>
            <a:off x="311700" y="2366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DBMS SOFTWARE ARCHITECTURE </a:t>
            </a:r>
            <a:endParaRPr lang="en-US" dirty="0"/>
          </a:p>
        </p:txBody>
      </p:sp>
      <p:sp>
        <p:nvSpPr>
          <p:cNvPr id="196" name="Google Shape;196;p39"/>
          <p:cNvSpPr txBox="1">
            <a:spLocks noGrp="1"/>
          </p:cNvSpPr>
          <p:nvPr>
            <p:ph type="body" idx="1"/>
          </p:nvPr>
        </p:nvSpPr>
        <p:spPr>
          <a:xfrm>
            <a:off x="3607475" y="1234075"/>
            <a:ext cx="5224800" cy="333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n" b="1" dirty="0" smtClean="0">
                <a:latin typeface="Arial"/>
                <a:ea typeface="Arial"/>
                <a:cs typeface="Arial"/>
                <a:sym typeface="Arial"/>
              </a:rPr>
              <a:t>Flow:</a:t>
            </a:r>
            <a:endParaRPr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30200" algn="l" rtl="0">
              <a:spcBef>
                <a:spcPts val="1200"/>
              </a:spcBef>
              <a:spcAft>
                <a:spcPts val="0"/>
              </a:spcAft>
              <a:buSzPts val="1600"/>
              <a:buFont typeface="Arial"/>
              <a:buChar char="●"/>
            </a:pPr>
            <a:r>
              <a:rPr lang="en" sz="1600" dirty="0">
                <a:latin typeface="Arial"/>
                <a:ea typeface="Arial"/>
                <a:cs typeface="Arial"/>
                <a:sym typeface="Arial"/>
              </a:rPr>
              <a:t>User submits SQL query.</a:t>
            </a:r>
            <a:endParaRPr sz="16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Arial"/>
              <a:buChar char="●"/>
            </a:pPr>
            <a:r>
              <a:rPr lang="en" sz="1600" dirty="0">
                <a:latin typeface="Arial"/>
                <a:ea typeface="Arial"/>
                <a:cs typeface="Arial"/>
                <a:sym typeface="Arial"/>
              </a:rPr>
              <a:t>Query Processor interprets and optimizes it.</a:t>
            </a:r>
            <a:endParaRPr sz="16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Arial"/>
              <a:buChar char="●"/>
            </a:pPr>
            <a:r>
              <a:rPr lang="en" sz="1600" dirty="0">
                <a:latin typeface="Arial"/>
                <a:ea typeface="Arial"/>
                <a:cs typeface="Arial"/>
                <a:sym typeface="Arial"/>
              </a:rPr>
              <a:t>Storage Manager accesses data.</a:t>
            </a:r>
            <a:endParaRPr sz="16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Arial"/>
              <a:buChar char="●"/>
            </a:pPr>
            <a:r>
              <a:rPr lang="en" sz="1600" dirty="0">
                <a:latin typeface="Arial"/>
                <a:ea typeface="Arial"/>
                <a:cs typeface="Arial"/>
                <a:sym typeface="Arial"/>
              </a:rPr>
              <a:t>Transaction Manager ensures consistency and recovery.</a:t>
            </a:r>
            <a:endParaRPr sz="16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300" dirty="0"/>
          </a:p>
        </p:txBody>
      </p:sp>
      <p:pic>
        <p:nvPicPr>
          <p:cNvPr id="197" name="Google Shape;197;p39" title="mermaid-diagram (11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5951" y="883200"/>
            <a:ext cx="1730450" cy="4036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40"/>
          <p:cNvSpPr txBox="1">
            <a:spLocks noGrp="1"/>
          </p:cNvSpPr>
          <p:nvPr>
            <p:ph type="title"/>
          </p:nvPr>
        </p:nvSpPr>
        <p:spPr>
          <a:xfrm>
            <a:off x="281400" y="325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COMPONENTS </a:t>
            </a:r>
            <a:endParaRPr lang="en-US" dirty="0"/>
          </a:p>
        </p:txBody>
      </p:sp>
      <p:sp>
        <p:nvSpPr>
          <p:cNvPr id="203" name="Google Shape;203;p40"/>
          <p:cNvSpPr txBox="1"/>
          <p:nvPr/>
        </p:nvSpPr>
        <p:spPr>
          <a:xfrm>
            <a:off x="76350" y="1474600"/>
            <a:ext cx="3029100" cy="27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95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853"/>
              <a:buFont typeface="Arial"/>
              <a:buNone/>
            </a:pPr>
            <a:r>
              <a:rPr lang="en" sz="1718" b="1" dirty="0">
                <a:solidFill>
                  <a:schemeClr val="dk2"/>
                </a:solidFill>
              </a:rPr>
              <a:t>1. Query Processor</a:t>
            </a:r>
            <a:endParaRPr sz="1718" b="1" dirty="0">
              <a:solidFill>
                <a:schemeClr val="dk2"/>
              </a:solidFill>
            </a:endParaRPr>
          </a:p>
          <a:p>
            <a:pPr marL="457200" lvl="0" indent="-320834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453"/>
              <a:buChar char="●"/>
            </a:pPr>
            <a:r>
              <a:rPr lang="en" sz="1453" dirty="0">
                <a:solidFill>
                  <a:schemeClr val="dk2"/>
                </a:solidFill>
              </a:rPr>
              <a:t>Interprets SQL queries.</a:t>
            </a:r>
            <a:endParaRPr sz="1453" dirty="0">
              <a:solidFill>
                <a:schemeClr val="dk2"/>
              </a:solidFill>
            </a:endParaRPr>
          </a:p>
          <a:p>
            <a:pPr marL="457200" lvl="0" indent="-320834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53"/>
              <a:buChar char="●"/>
            </a:pPr>
            <a:r>
              <a:rPr lang="en" sz="1453" dirty="0">
                <a:solidFill>
                  <a:schemeClr val="dk2"/>
                </a:solidFill>
              </a:rPr>
              <a:t>Checks syntax and semantics.</a:t>
            </a:r>
            <a:endParaRPr sz="1453" dirty="0">
              <a:solidFill>
                <a:schemeClr val="dk2"/>
              </a:solidFill>
            </a:endParaRPr>
          </a:p>
          <a:p>
            <a:pPr marL="457200" lvl="0" indent="-320834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53"/>
              <a:buChar char="●"/>
            </a:pPr>
            <a:r>
              <a:rPr lang="en" sz="1453" dirty="0">
                <a:solidFill>
                  <a:schemeClr val="dk2"/>
                </a:solidFill>
              </a:rPr>
              <a:t>Optimizes query execution.</a:t>
            </a:r>
            <a:endParaRPr sz="1453" dirty="0">
              <a:solidFill>
                <a:schemeClr val="dk2"/>
              </a:solidFill>
            </a:endParaRPr>
          </a:p>
          <a:p>
            <a:pPr marL="457200" lvl="0" indent="-320834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53"/>
              <a:buChar char="●"/>
            </a:pPr>
            <a:r>
              <a:rPr lang="en" sz="1453" dirty="0">
                <a:solidFill>
                  <a:schemeClr val="dk2"/>
                </a:solidFill>
              </a:rPr>
              <a:t>Generates an execution plan.</a:t>
            </a:r>
            <a:endParaRPr sz="1453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sp>
        <p:nvSpPr>
          <p:cNvPr id="204" name="Google Shape;204;p40"/>
          <p:cNvSpPr txBox="1"/>
          <p:nvPr/>
        </p:nvSpPr>
        <p:spPr>
          <a:xfrm>
            <a:off x="3105450" y="1440700"/>
            <a:ext cx="2872500" cy="276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95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n" sz="1718" b="1">
                <a:solidFill>
                  <a:schemeClr val="dk2"/>
                </a:solidFill>
              </a:rPr>
              <a:t>2. Storage Manager</a:t>
            </a:r>
            <a:endParaRPr sz="1718" b="1">
              <a:solidFill>
                <a:schemeClr val="dk2"/>
              </a:solidFill>
            </a:endParaRPr>
          </a:p>
          <a:p>
            <a:pPr marL="457200" lvl="0" indent="-320834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453"/>
              <a:buChar char="●"/>
            </a:pPr>
            <a:r>
              <a:rPr lang="en" sz="1453">
                <a:solidFill>
                  <a:schemeClr val="dk2"/>
                </a:solidFill>
              </a:rPr>
              <a:t>Manages physical storage.</a:t>
            </a:r>
            <a:endParaRPr sz="1453">
              <a:solidFill>
                <a:schemeClr val="dk2"/>
              </a:solidFill>
            </a:endParaRPr>
          </a:p>
          <a:p>
            <a:pPr marL="457200" lvl="0" indent="-320834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53"/>
              <a:buChar char="●"/>
            </a:pPr>
            <a:r>
              <a:rPr lang="en" sz="1453">
                <a:solidFill>
                  <a:schemeClr val="dk2"/>
                </a:solidFill>
              </a:rPr>
              <a:t>Retrieves and stores data.</a:t>
            </a:r>
            <a:endParaRPr sz="1453">
              <a:solidFill>
                <a:schemeClr val="dk2"/>
              </a:solidFill>
            </a:endParaRPr>
          </a:p>
          <a:p>
            <a:pPr marL="457200" lvl="0" indent="-320834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53"/>
              <a:buChar char="●"/>
            </a:pPr>
            <a:r>
              <a:rPr lang="en" sz="1453">
                <a:solidFill>
                  <a:schemeClr val="dk2"/>
                </a:solidFill>
              </a:rPr>
              <a:t>Handles indexes and buffers.</a:t>
            </a:r>
            <a:endParaRPr sz="1453">
              <a:solidFill>
                <a:schemeClr val="dk2"/>
              </a:solidFill>
            </a:endParaRPr>
          </a:p>
          <a:p>
            <a:pPr marL="457200" lvl="0" indent="-320834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53"/>
              <a:buChar char="●"/>
            </a:pPr>
            <a:r>
              <a:rPr lang="en" sz="1453">
                <a:solidFill>
                  <a:schemeClr val="dk2"/>
                </a:solidFill>
              </a:rPr>
              <a:t>Organizes files efficiently.</a:t>
            </a:r>
            <a:endParaRPr sz="1453">
              <a:solidFill>
                <a:schemeClr val="dk2"/>
              </a:solidFill>
            </a:endParaRPr>
          </a:p>
        </p:txBody>
      </p:sp>
      <p:sp>
        <p:nvSpPr>
          <p:cNvPr id="205" name="Google Shape;205;p40"/>
          <p:cNvSpPr txBox="1"/>
          <p:nvPr/>
        </p:nvSpPr>
        <p:spPr>
          <a:xfrm>
            <a:off x="6054300" y="1440700"/>
            <a:ext cx="2872500" cy="340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lnSpc>
                <a:spcPct val="95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n" sz="1718" b="1">
                <a:solidFill>
                  <a:schemeClr val="dk2"/>
                </a:solidFill>
              </a:rPr>
              <a:t>3. Transaction Manager</a:t>
            </a:r>
            <a:endParaRPr sz="1718" b="1">
              <a:solidFill>
                <a:schemeClr val="dk2"/>
              </a:solidFill>
            </a:endParaRPr>
          </a:p>
          <a:p>
            <a:pPr marL="457200" lvl="0" indent="-320834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453"/>
              <a:buChar char="●"/>
            </a:pPr>
            <a:r>
              <a:rPr lang="en" sz="1453">
                <a:solidFill>
                  <a:schemeClr val="dk2"/>
                </a:solidFill>
              </a:rPr>
              <a:t>Ensures ACID properties.</a:t>
            </a:r>
            <a:endParaRPr sz="1453">
              <a:solidFill>
                <a:schemeClr val="dk2"/>
              </a:solidFill>
            </a:endParaRPr>
          </a:p>
          <a:p>
            <a:pPr marL="457200" lvl="0" indent="-320834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53"/>
              <a:buChar char="●"/>
            </a:pPr>
            <a:r>
              <a:rPr lang="en" sz="1453">
                <a:solidFill>
                  <a:schemeClr val="dk2"/>
                </a:solidFill>
              </a:rPr>
              <a:t>Controls concurrent transactions.</a:t>
            </a:r>
            <a:endParaRPr sz="1453">
              <a:solidFill>
                <a:schemeClr val="dk2"/>
              </a:solidFill>
            </a:endParaRPr>
          </a:p>
          <a:p>
            <a:pPr marL="457200" lvl="0" indent="-320834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53"/>
              <a:buChar char="●"/>
            </a:pPr>
            <a:r>
              <a:rPr lang="en" sz="1453">
                <a:solidFill>
                  <a:schemeClr val="dk2"/>
                </a:solidFill>
              </a:rPr>
              <a:t>Performs commit and rollback.</a:t>
            </a:r>
            <a:endParaRPr sz="1453">
              <a:solidFill>
                <a:schemeClr val="dk2"/>
              </a:solidFill>
            </a:endParaRPr>
          </a:p>
          <a:p>
            <a:pPr marL="457200" lvl="0" indent="-320834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53"/>
              <a:buChar char="●"/>
            </a:pPr>
            <a:r>
              <a:rPr lang="en" sz="1453">
                <a:solidFill>
                  <a:schemeClr val="dk2"/>
                </a:solidFill>
              </a:rPr>
              <a:t>Supports crash recovery.</a:t>
            </a:r>
            <a:endParaRPr sz="1995">
              <a:solidFill>
                <a:schemeClr val="dk2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41"/>
          <p:cNvSpPr txBox="1">
            <a:spLocks noGrp="1"/>
          </p:cNvSpPr>
          <p:nvPr>
            <p:ph type="title"/>
          </p:nvPr>
        </p:nvSpPr>
        <p:spPr>
          <a:xfrm>
            <a:off x="311700" y="312403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ADVANTAGES &amp; CONCLUSION</a:t>
            </a:r>
            <a:endParaRPr lang="en-US" dirty="0"/>
          </a:p>
        </p:txBody>
      </p:sp>
      <p:sp>
        <p:nvSpPr>
          <p:cNvPr id="211" name="Google Shape;211;p41"/>
          <p:cNvSpPr txBox="1">
            <a:spLocks noGrp="1"/>
          </p:cNvSpPr>
          <p:nvPr>
            <p:ph type="body" idx="1"/>
          </p:nvPr>
        </p:nvSpPr>
        <p:spPr>
          <a:xfrm>
            <a:off x="311700" y="961849"/>
            <a:ext cx="8520600" cy="333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018"/>
              <a:buFont typeface="Arial"/>
              <a:buNone/>
            </a:pPr>
            <a:r>
              <a:rPr lang="en" sz="1873" b="1" dirty="0" smtClean="0">
                <a:latin typeface="Arial"/>
                <a:ea typeface="Arial"/>
                <a:cs typeface="Arial"/>
                <a:sym typeface="Arial"/>
              </a:rPr>
              <a:t>Advantages:</a:t>
            </a:r>
            <a:endParaRPr sz="1873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4961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518"/>
              <a:buFont typeface="Arial"/>
              <a:buChar char="●"/>
            </a:pPr>
            <a:r>
              <a:rPr lang="en" sz="1518" dirty="0">
                <a:latin typeface="Arial"/>
                <a:ea typeface="Arial"/>
                <a:cs typeface="Arial"/>
                <a:sym typeface="Arial"/>
              </a:rPr>
              <a:t>Fast query execution.</a:t>
            </a:r>
            <a:endParaRPr sz="1518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4961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518"/>
              <a:buFont typeface="Arial"/>
              <a:buChar char="●"/>
            </a:pPr>
            <a:r>
              <a:rPr lang="en" sz="1518" dirty="0">
                <a:latin typeface="Arial"/>
                <a:ea typeface="Arial"/>
                <a:cs typeface="Arial"/>
                <a:sym typeface="Arial"/>
              </a:rPr>
              <a:t>Efficient data storage.</a:t>
            </a:r>
            <a:endParaRPr sz="1518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4961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518"/>
              <a:buFont typeface="Arial"/>
              <a:buChar char="●"/>
            </a:pPr>
            <a:r>
              <a:rPr lang="en" sz="1518" dirty="0">
                <a:latin typeface="Arial"/>
                <a:ea typeface="Arial"/>
                <a:cs typeface="Arial"/>
                <a:sym typeface="Arial"/>
              </a:rPr>
              <a:t>Safe transaction processing.</a:t>
            </a:r>
            <a:endParaRPr sz="1518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4961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518"/>
              <a:buFont typeface="Arial"/>
              <a:buChar char="●"/>
            </a:pPr>
            <a:r>
              <a:rPr lang="en" sz="1518" dirty="0">
                <a:latin typeface="Arial"/>
                <a:ea typeface="Arial"/>
                <a:cs typeface="Arial"/>
                <a:sym typeface="Arial"/>
              </a:rPr>
              <a:t>Supports multiple users.</a:t>
            </a:r>
            <a:endParaRPr sz="1518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4961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518"/>
              <a:buFont typeface="Arial"/>
              <a:buChar char="●"/>
            </a:pPr>
            <a:r>
              <a:rPr lang="en" sz="1518" dirty="0">
                <a:latin typeface="Arial"/>
                <a:ea typeface="Arial"/>
                <a:cs typeface="Arial"/>
                <a:sym typeface="Arial"/>
              </a:rPr>
              <a:t>Ensures data integrity and reliability.</a:t>
            </a:r>
            <a:endParaRPr sz="1518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018"/>
              <a:buFont typeface="Arial"/>
              <a:buNone/>
            </a:pPr>
            <a:r>
              <a:rPr lang="en" sz="1873" b="1" dirty="0" smtClean="0">
                <a:latin typeface="Arial"/>
                <a:ea typeface="Arial"/>
                <a:cs typeface="Arial"/>
                <a:sym typeface="Arial"/>
              </a:rPr>
              <a:t>Conclusion:</a:t>
            </a:r>
            <a:endParaRPr sz="1873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4961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518"/>
              <a:buFont typeface="Arial"/>
              <a:buChar char="●"/>
            </a:pPr>
            <a:r>
              <a:rPr lang="en" sz="1518" dirty="0">
                <a:latin typeface="Arial"/>
                <a:ea typeface="Arial"/>
                <a:cs typeface="Arial"/>
                <a:sym typeface="Arial"/>
              </a:rPr>
              <a:t>The Query Processor manages SQL queries.</a:t>
            </a:r>
            <a:endParaRPr sz="1518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4961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518"/>
              <a:buFont typeface="Arial"/>
              <a:buChar char="●"/>
            </a:pPr>
            <a:r>
              <a:rPr lang="en" sz="1518" dirty="0">
                <a:latin typeface="Arial"/>
                <a:ea typeface="Arial"/>
                <a:cs typeface="Arial"/>
                <a:sym typeface="Arial"/>
              </a:rPr>
              <a:t>The Storage Manager manages data storage.</a:t>
            </a:r>
            <a:endParaRPr sz="1518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4961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518"/>
              <a:buFont typeface="Arial"/>
              <a:buChar char="●"/>
            </a:pPr>
            <a:r>
              <a:rPr lang="en" sz="1518" dirty="0">
                <a:latin typeface="Arial"/>
                <a:ea typeface="Arial"/>
                <a:cs typeface="Arial"/>
                <a:sym typeface="Arial"/>
              </a:rPr>
              <a:t>The Transaction Manager guarantees reliable transactions.</a:t>
            </a:r>
            <a:endParaRPr sz="1518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4961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518"/>
              <a:buFont typeface="Arial"/>
              <a:buChar char="●"/>
            </a:pPr>
            <a:r>
              <a:rPr lang="en" sz="1518" dirty="0">
                <a:latin typeface="Arial"/>
                <a:ea typeface="Arial"/>
                <a:cs typeface="Arial"/>
                <a:sym typeface="Arial"/>
              </a:rPr>
              <a:t>Together, these components make a DBMS efficient, secure, and reliable.</a:t>
            </a:r>
            <a:endParaRPr sz="1518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endParaRPr sz="196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42"/>
          <p:cNvSpPr txBox="1">
            <a:spLocks noGrp="1"/>
          </p:cNvSpPr>
          <p:nvPr>
            <p:ph type="title"/>
          </p:nvPr>
        </p:nvSpPr>
        <p:spPr>
          <a:xfrm>
            <a:off x="311700" y="272903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INTRODUCTION </a:t>
            </a:r>
            <a:endParaRPr lang="en-US" dirty="0"/>
          </a:p>
        </p:txBody>
      </p:sp>
      <p:sp>
        <p:nvSpPr>
          <p:cNvPr id="217" name="Google Shape;217;p42"/>
          <p:cNvSpPr txBox="1">
            <a:spLocks noGrp="1"/>
          </p:cNvSpPr>
          <p:nvPr>
            <p:ph type="body" idx="1"/>
          </p:nvPr>
        </p:nvSpPr>
        <p:spPr>
          <a:xfrm>
            <a:off x="311700" y="912988"/>
            <a:ext cx="8520600" cy="333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n" sz="2100" b="1" dirty="0" smtClean="0">
                <a:latin typeface="Arial"/>
                <a:ea typeface="Arial"/>
                <a:cs typeface="Arial"/>
                <a:sym typeface="Arial"/>
              </a:rPr>
              <a:t>5) Strong </a:t>
            </a:r>
            <a:r>
              <a:rPr lang="en" sz="2100" b="1" dirty="0">
                <a:latin typeface="Arial"/>
                <a:ea typeface="Arial"/>
                <a:cs typeface="Arial"/>
                <a:sym typeface="Arial"/>
              </a:rPr>
              <a:t>and Weak Entities in ER Modeling</a:t>
            </a:r>
            <a:endParaRPr sz="21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n" sz="1700" b="1" dirty="0">
                <a:latin typeface="Arial"/>
                <a:ea typeface="Arial"/>
                <a:cs typeface="Arial"/>
                <a:sym typeface="Arial"/>
              </a:rPr>
              <a:t>What is an Entity?</a:t>
            </a:r>
            <a:endParaRPr sz="17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385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500"/>
              <a:buFont typeface="Arial"/>
              <a:buChar char="●"/>
            </a:pPr>
            <a:r>
              <a:rPr lang="en" sz="1500" dirty="0">
                <a:latin typeface="Arial"/>
                <a:ea typeface="Arial"/>
                <a:cs typeface="Arial"/>
                <a:sym typeface="Arial"/>
              </a:rPr>
              <a:t>An entity is a real-world object that can be uniquely identified.</a:t>
            </a:r>
            <a:endParaRPr sz="15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385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500"/>
              <a:buFont typeface="Arial"/>
              <a:buChar char="●"/>
            </a:pPr>
            <a:r>
              <a:rPr lang="en" sz="1500" dirty="0">
                <a:latin typeface="Arial"/>
                <a:ea typeface="Arial"/>
                <a:cs typeface="Arial"/>
                <a:sym typeface="Arial"/>
              </a:rPr>
              <a:t>Entities are represented by </a:t>
            </a:r>
            <a:r>
              <a:rPr lang="en" sz="1500" b="1" dirty="0">
                <a:latin typeface="Arial"/>
                <a:ea typeface="Arial"/>
                <a:cs typeface="Arial"/>
                <a:sym typeface="Arial"/>
              </a:rPr>
              <a:t>rectangles</a:t>
            </a:r>
            <a:r>
              <a:rPr lang="en" sz="1500" dirty="0">
                <a:latin typeface="Arial"/>
                <a:ea typeface="Arial"/>
                <a:cs typeface="Arial"/>
                <a:sym typeface="Arial"/>
              </a:rPr>
              <a:t> in an ER diagram.</a:t>
            </a:r>
            <a:endParaRPr sz="15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n" sz="1700" b="1" dirty="0">
                <a:latin typeface="Arial"/>
                <a:ea typeface="Arial"/>
                <a:cs typeface="Arial"/>
                <a:sym typeface="Arial"/>
              </a:rPr>
              <a:t>Types of </a:t>
            </a:r>
            <a:r>
              <a:rPr lang="en" sz="1700" b="1" dirty="0" smtClean="0">
                <a:latin typeface="Arial"/>
                <a:ea typeface="Arial"/>
                <a:cs typeface="Arial"/>
                <a:sym typeface="Arial"/>
              </a:rPr>
              <a:t>Entities:</a:t>
            </a:r>
            <a:endParaRPr sz="17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385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500"/>
              <a:buFont typeface="Arial"/>
              <a:buChar char="●"/>
            </a:pPr>
            <a:r>
              <a:rPr lang="en" sz="1500" b="1" dirty="0">
                <a:latin typeface="Arial"/>
                <a:ea typeface="Arial"/>
                <a:cs typeface="Arial"/>
                <a:sym typeface="Arial"/>
              </a:rPr>
              <a:t>Strong Entity</a:t>
            </a:r>
            <a:endParaRPr sz="15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385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500"/>
              <a:buFont typeface="Arial"/>
              <a:buChar char="●"/>
            </a:pPr>
            <a:r>
              <a:rPr lang="en" sz="1500" b="1" dirty="0">
                <a:latin typeface="Arial"/>
                <a:ea typeface="Arial"/>
                <a:cs typeface="Arial"/>
                <a:sym typeface="Arial"/>
              </a:rPr>
              <a:t>Weak Entity</a:t>
            </a:r>
            <a:endParaRPr sz="15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n" sz="1700" b="1" dirty="0" smtClean="0">
                <a:latin typeface="Arial"/>
                <a:ea typeface="Arial"/>
                <a:cs typeface="Arial"/>
                <a:sym typeface="Arial"/>
              </a:rPr>
              <a:t>Objective:</a:t>
            </a:r>
            <a:endParaRPr sz="17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Arial"/>
              <a:buNone/>
            </a:pPr>
            <a:r>
              <a:rPr lang="en" sz="1500" dirty="0">
                <a:latin typeface="Arial"/>
                <a:ea typeface="Arial"/>
                <a:cs typeface="Arial"/>
                <a:sym typeface="Arial"/>
              </a:rPr>
              <a:t>To compare strong and weak entities using real-world examples.</a:t>
            </a:r>
            <a:endParaRPr sz="15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STRONG ENTITY VS WEAK ENTITY </a:t>
            </a:r>
            <a:endParaRPr lang="en-US" dirty="0"/>
          </a:p>
        </p:txBody>
      </p:sp>
      <p:graphicFrame>
        <p:nvGraphicFramePr>
          <p:cNvPr id="223" name="Google Shape;223;p43"/>
          <p:cNvGraphicFramePr/>
          <p:nvPr>
            <p:extLst>
              <p:ext uri="{D42A27DB-BD31-4B8C-83A1-F6EECF244321}">
                <p14:modId xmlns:p14="http://schemas.microsoft.com/office/powerpoint/2010/main" val="2643525558"/>
              </p:ext>
            </p:extLst>
          </p:nvPr>
        </p:nvGraphicFramePr>
        <p:xfrm>
          <a:off x="602750" y="1309625"/>
          <a:ext cx="7938500" cy="3240000"/>
        </p:xfrm>
        <a:graphic>
          <a:graphicData uri="http://schemas.openxmlformats.org/drawingml/2006/table">
            <a:tbl>
              <a:tblPr>
                <a:noFill/>
                <a:tableStyleId>{C298A04B-FCCB-42F5-947F-410B4F480092}</a:tableStyleId>
              </a:tblPr>
              <a:tblGrid>
                <a:gridCol w="3969250"/>
                <a:gridCol w="3969250"/>
              </a:tblGrid>
              <a:tr h="5327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STRONG ENTITY</a:t>
                      </a:r>
                      <a:endParaRPr lang="en-US" sz="1500" b="1"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dirty="0" smtClean="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WEAK ENTITY</a:t>
                      </a:r>
                      <a:endParaRPr lang="en-US" sz="1500" b="1" dirty="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525" marR="9525" marT="9525" marB="9525"/>
                </a:tc>
              </a:tr>
              <a:tr h="5327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Has its own Primary Key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Does not have a complete Primary Key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525" marR="9525" marT="9525" marB="9525"/>
                </a:tc>
              </a:tr>
              <a:tr h="5327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Exists independently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Depends on a Strong Entity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525" marR="9525" marT="9525" marB="9525"/>
                </a:tc>
              </a:tr>
              <a:tr h="5327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Represented by a single rectangle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Represented by a double rectangle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525" marR="9525" marT="9525" marB="9525"/>
                </a:tc>
              </a:tr>
              <a:tr h="5763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Identified uniquely by its own attributes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Identified using a Partial Key and the owner's Primary Key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525" marR="9525" marT="9525" marB="9525"/>
                </a:tc>
              </a:tr>
              <a:tr h="5327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Example: Student, Employee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525" marR="9525" marT="9525" marB="9525"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5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Example: Dependent, Order Item</a:t>
                      </a:r>
                      <a:endParaRPr sz="15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525" marR="9525" marT="9525" marB="9525"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44"/>
          <p:cNvSpPr txBox="1">
            <a:spLocks noGrp="1"/>
          </p:cNvSpPr>
          <p:nvPr>
            <p:ph type="title"/>
          </p:nvPr>
        </p:nvSpPr>
        <p:spPr>
          <a:xfrm>
            <a:off x="311700" y="56633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REAL-WORLD EXAMPLE </a:t>
            </a:r>
            <a:endParaRPr lang="en-US" dirty="0"/>
          </a:p>
        </p:txBody>
      </p:sp>
      <p:sp>
        <p:nvSpPr>
          <p:cNvPr id="229" name="Google Shape;229;p44"/>
          <p:cNvSpPr txBox="1">
            <a:spLocks noGrp="1"/>
          </p:cNvSpPr>
          <p:nvPr>
            <p:ph type="body" idx="1"/>
          </p:nvPr>
        </p:nvSpPr>
        <p:spPr>
          <a:xfrm>
            <a:off x="311700" y="433725"/>
            <a:ext cx="8520600" cy="333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605"/>
              <a:buFont typeface="Arial"/>
              <a:buNone/>
            </a:pPr>
            <a:r>
              <a:rPr lang="en" sz="1535" b="1" dirty="0">
                <a:latin typeface="Arial"/>
                <a:ea typeface="Arial"/>
                <a:cs typeface="Arial"/>
                <a:sym typeface="Arial"/>
              </a:rPr>
              <a:t>Bank Account and Transaction</a:t>
            </a:r>
            <a:endParaRPr sz="1535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dk2"/>
              </a:buClr>
              <a:buSzPts val="605"/>
              <a:buFont typeface="Arial"/>
              <a:buNone/>
            </a:pPr>
            <a:r>
              <a:rPr lang="en" sz="1315" b="1" dirty="0">
                <a:latin typeface="Arial"/>
                <a:ea typeface="Arial"/>
                <a:cs typeface="Arial"/>
                <a:sym typeface="Arial"/>
              </a:rPr>
              <a:t>Strong </a:t>
            </a:r>
            <a:r>
              <a:rPr lang="en" sz="1315" b="1" dirty="0" smtClean="0">
                <a:latin typeface="Arial"/>
                <a:ea typeface="Arial"/>
                <a:cs typeface="Arial"/>
                <a:sym typeface="Arial"/>
              </a:rPr>
              <a:t>Entity:</a:t>
            </a:r>
            <a:endParaRPr sz="1315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605"/>
              <a:buFont typeface="Arial"/>
              <a:buNone/>
            </a:pPr>
            <a:r>
              <a:rPr lang="en" sz="1205" b="1" dirty="0">
                <a:latin typeface="Arial"/>
                <a:ea typeface="Arial"/>
                <a:cs typeface="Arial"/>
                <a:sym typeface="Arial"/>
              </a:rPr>
              <a:t>Bank Account</a:t>
            </a:r>
            <a:endParaRPr sz="1205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05118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205"/>
              <a:buFont typeface="Arial"/>
              <a:buChar char="●"/>
            </a:pPr>
            <a:r>
              <a:rPr lang="en" sz="1205" dirty="0">
                <a:latin typeface="Arial"/>
                <a:ea typeface="Arial"/>
                <a:cs typeface="Arial"/>
                <a:sym typeface="Arial"/>
              </a:rPr>
              <a:t>Account_Number (Primary Key)</a:t>
            </a:r>
            <a:endParaRPr sz="1205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05118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205"/>
              <a:buFont typeface="Arial"/>
              <a:buChar char="●"/>
            </a:pPr>
            <a:r>
              <a:rPr lang="en" sz="1205" dirty="0">
                <a:latin typeface="Arial"/>
                <a:ea typeface="Arial"/>
                <a:cs typeface="Arial"/>
                <a:sym typeface="Arial"/>
              </a:rPr>
              <a:t>Account_Holder</a:t>
            </a:r>
            <a:endParaRPr sz="1205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05118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205"/>
              <a:buFont typeface="Arial"/>
              <a:buChar char="●"/>
            </a:pPr>
            <a:r>
              <a:rPr lang="en" sz="1205" dirty="0">
                <a:latin typeface="Arial"/>
                <a:ea typeface="Arial"/>
                <a:cs typeface="Arial"/>
                <a:sym typeface="Arial"/>
              </a:rPr>
              <a:t>Balance</a:t>
            </a:r>
            <a:endParaRPr sz="1205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dk2"/>
              </a:buClr>
              <a:buSzPts val="605"/>
              <a:buFont typeface="Arial"/>
              <a:buNone/>
            </a:pPr>
            <a:r>
              <a:rPr lang="en" sz="1315" b="1" dirty="0">
                <a:latin typeface="Arial"/>
                <a:ea typeface="Arial"/>
                <a:cs typeface="Arial"/>
                <a:sym typeface="Arial"/>
              </a:rPr>
              <a:t>Weak </a:t>
            </a:r>
            <a:r>
              <a:rPr lang="en" sz="1315" b="1" dirty="0" smtClean="0">
                <a:latin typeface="Arial"/>
                <a:ea typeface="Arial"/>
                <a:cs typeface="Arial"/>
                <a:sym typeface="Arial"/>
              </a:rPr>
              <a:t>Entity:</a:t>
            </a:r>
            <a:endParaRPr sz="1315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605"/>
              <a:buFont typeface="Arial"/>
              <a:buNone/>
            </a:pPr>
            <a:r>
              <a:rPr lang="en" sz="1205" b="1" dirty="0">
                <a:latin typeface="Arial"/>
                <a:ea typeface="Arial"/>
                <a:cs typeface="Arial"/>
                <a:sym typeface="Arial"/>
              </a:rPr>
              <a:t>Transaction</a:t>
            </a:r>
            <a:endParaRPr sz="1205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05118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205"/>
              <a:buFont typeface="Arial"/>
              <a:buChar char="●"/>
            </a:pPr>
            <a:r>
              <a:rPr lang="en" sz="1205" dirty="0">
                <a:latin typeface="Arial"/>
                <a:ea typeface="Arial"/>
                <a:cs typeface="Arial"/>
                <a:sym typeface="Arial"/>
              </a:rPr>
              <a:t>Transaction_ID </a:t>
            </a:r>
            <a:r>
              <a:rPr lang="en" sz="1205" i="1" dirty="0">
                <a:latin typeface="Arial"/>
                <a:ea typeface="Arial"/>
                <a:cs typeface="Arial"/>
                <a:sym typeface="Arial"/>
              </a:rPr>
              <a:t>(Partial Key)</a:t>
            </a:r>
            <a:endParaRPr sz="1205" i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05118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205"/>
              <a:buFont typeface="Arial"/>
              <a:buChar char="●"/>
            </a:pPr>
            <a:r>
              <a:rPr lang="en" sz="1205" dirty="0">
                <a:latin typeface="Arial"/>
                <a:ea typeface="Arial"/>
                <a:cs typeface="Arial"/>
                <a:sym typeface="Arial"/>
              </a:rPr>
              <a:t>Date</a:t>
            </a:r>
            <a:endParaRPr sz="1205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05118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205"/>
              <a:buFont typeface="Arial"/>
              <a:buChar char="●"/>
            </a:pPr>
            <a:r>
              <a:rPr lang="en" sz="1205" dirty="0">
                <a:latin typeface="Arial"/>
                <a:ea typeface="Arial"/>
                <a:cs typeface="Arial"/>
                <a:sym typeface="Arial"/>
              </a:rPr>
              <a:t>Amount</a:t>
            </a:r>
            <a:endParaRPr sz="1205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05118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205"/>
              <a:buFont typeface="Arial"/>
              <a:buChar char="●"/>
            </a:pPr>
            <a:r>
              <a:rPr lang="en" sz="1205" dirty="0">
                <a:latin typeface="Arial"/>
                <a:ea typeface="Arial"/>
                <a:cs typeface="Arial"/>
                <a:sym typeface="Arial"/>
              </a:rPr>
              <a:t>Type (Deposit/Withdrawal)</a:t>
            </a:r>
            <a:endParaRPr sz="1205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Clr>
                <a:schemeClr val="dk2"/>
              </a:buClr>
              <a:buSzPts val="605"/>
              <a:buFont typeface="Arial"/>
              <a:buNone/>
            </a:pPr>
            <a:r>
              <a:rPr lang="en" sz="1315" b="1" dirty="0" smtClean="0">
                <a:latin typeface="Arial"/>
                <a:ea typeface="Arial"/>
                <a:cs typeface="Arial"/>
                <a:sym typeface="Arial"/>
              </a:rPr>
              <a:t>Relationship:</a:t>
            </a:r>
            <a:endParaRPr sz="1315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05118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205"/>
              <a:buFont typeface="Arial"/>
              <a:buChar char="●"/>
            </a:pPr>
            <a:r>
              <a:rPr lang="en" sz="1205" dirty="0"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" sz="1205" b="1" dirty="0">
                <a:latin typeface="Arial"/>
                <a:ea typeface="Arial"/>
                <a:cs typeface="Arial"/>
                <a:sym typeface="Arial"/>
              </a:rPr>
              <a:t>Bank Account</a:t>
            </a:r>
            <a:r>
              <a:rPr lang="en" sz="1205" dirty="0">
                <a:latin typeface="Arial"/>
                <a:ea typeface="Arial"/>
                <a:cs typeface="Arial"/>
                <a:sym typeface="Arial"/>
              </a:rPr>
              <a:t> has </a:t>
            </a:r>
            <a:r>
              <a:rPr lang="en" sz="1205" b="1" dirty="0">
                <a:latin typeface="Arial"/>
                <a:ea typeface="Arial"/>
                <a:cs typeface="Arial"/>
                <a:sym typeface="Arial"/>
              </a:rPr>
              <a:t>many Transactions</a:t>
            </a:r>
            <a:r>
              <a:rPr lang="en" sz="1205" dirty="0">
                <a:latin typeface="Arial"/>
                <a:ea typeface="Arial"/>
                <a:cs typeface="Arial"/>
                <a:sym typeface="Arial"/>
              </a:rPr>
              <a:t>.</a:t>
            </a:r>
            <a:endParaRPr sz="1205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05118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205"/>
              <a:buFont typeface="Arial"/>
              <a:buChar char="●"/>
            </a:pPr>
            <a:r>
              <a:rPr lang="en" sz="1205" dirty="0"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" sz="1205" b="1" dirty="0">
                <a:latin typeface="Arial"/>
                <a:ea typeface="Arial"/>
                <a:cs typeface="Arial"/>
                <a:sym typeface="Arial"/>
              </a:rPr>
              <a:t>Transaction cannot exist without a Bank Account</a:t>
            </a:r>
            <a:r>
              <a:rPr lang="en" sz="1205" dirty="0">
                <a:latin typeface="Arial"/>
                <a:ea typeface="Arial"/>
                <a:cs typeface="Arial"/>
                <a:sym typeface="Arial"/>
              </a:rPr>
              <a:t>.</a:t>
            </a:r>
            <a:endParaRPr sz="1205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605"/>
              <a:buNone/>
            </a:pPr>
            <a:endParaRPr sz="159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4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smtClean="0"/>
              <a:t>ADVANTAGES &amp; CONCLUSION </a:t>
            </a:r>
            <a:endParaRPr lang="en-US" dirty="0"/>
          </a:p>
        </p:txBody>
      </p:sp>
      <p:sp>
        <p:nvSpPr>
          <p:cNvPr id="235" name="Google Shape;235;p45"/>
          <p:cNvSpPr txBox="1">
            <a:spLocks noGrp="1"/>
          </p:cNvSpPr>
          <p:nvPr>
            <p:ph type="body" idx="1"/>
          </p:nvPr>
        </p:nvSpPr>
        <p:spPr>
          <a:xfrm>
            <a:off x="255858" y="1017725"/>
            <a:ext cx="8937900" cy="358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ct val="64706"/>
              <a:buFont typeface="Arial"/>
              <a:buNone/>
            </a:pPr>
            <a:r>
              <a:rPr lang="en" sz="1700" b="1" dirty="0" smtClean="0">
                <a:latin typeface="Arial"/>
                <a:ea typeface="Arial"/>
                <a:cs typeface="Arial"/>
                <a:sym typeface="Arial"/>
              </a:rPr>
              <a:t>Advantages:</a:t>
            </a:r>
            <a:endParaRPr sz="17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2185" algn="l" rtl="0">
              <a:spcBef>
                <a:spcPts val="12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" sz="1734" dirty="0">
                <a:latin typeface="Arial"/>
                <a:ea typeface="Arial"/>
                <a:cs typeface="Arial"/>
                <a:sym typeface="Arial"/>
              </a:rPr>
              <a:t>Represents real-world relationships accurately.</a:t>
            </a:r>
            <a:endParaRPr sz="1734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2185" algn="l" rtl="0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" sz="1734" dirty="0">
                <a:latin typeface="Arial"/>
                <a:ea typeface="Arial"/>
                <a:cs typeface="Arial"/>
                <a:sym typeface="Arial"/>
              </a:rPr>
              <a:t>Reduces data redundancy.</a:t>
            </a:r>
            <a:endParaRPr sz="1734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2185" algn="l" rtl="0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" sz="1734" dirty="0">
                <a:latin typeface="Arial"/>
                <a:ea typeface="Arial"/>
                <a:cs typeface="Arial"/>
                <a:sym typeface="Arial"/>
              </a:rPr>
              <a:t>Improves database organization.</a:t>
            </a:r>
            <a:endParaRPr sz="1734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2185" algn="l" rtl="0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" sz="1734" dirty="0">
                <a:latin typeface="Arial"/>
                <a:ea typeface="Arial"/>
                <a:cs typeface="Arial"/>
                <a:sym typeface="Arial"/>
              </a:rPr>
              <a:t>Ensures data integrity.</a:t>
            </a:r>
            <a:endParaRPr sz="1734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2185" algn="l" rtl="0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" sz="1734" dirty="0">
                <a:latin typeface="Arial"/>
                <a:ea typeface="Arial"/>
                <a:cs typeface="Arial"/>
                <a:sym typeface="Arial"/>
              </a:rPr>
              <a:t>Supports efficient database design.</a:t>
            </a:r>
            <a:endParaRPr sz="1734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2"/>
              </a:buClr>
              <a:buSzPct val="64706"/>
              <a:buFont typeface="Arial"/>
              <a:buNone/>
            </a:pPr>
            <a:r>
              <a:rPr lang="en" sz="1700" b="1" dirty="0" smtClean="0">
                <a:latin typeface="Arial"/>
                <a:ea typeface="Arial"/>
                <a:cs typeface="Arial"/>
                <a:sym typeface="Arial"/>
              </a:rPr>
              <a:t>Conclusion:</a:t>
            </a:r>
            <a:endParaRPr sz="17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3215" algn="l" rtl="0">
              <a:spcBef>
                <a:spcPts val="120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" sz="1753" dirty="0">
                <a:latin typeface="Arial"/>
                <a:ea typeface="Arial"/>
                <a:cs typeface="Arial"/>
                <a:sym typeface="Arial"/>
              </a:rPr>
              <a:t>Strong Entities have independent existence.</a:t>
            </a:r>
            <a:endParaRPr sz="1753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3215" algn="l" rtl="0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" sz="1753" dirty="0">
                <a:latin typeface="Arial"/>
                <a:ea typeface="Arial"/>
                <a:cs typeface="Arial"/>
                <a:sym typeface="Arial"/>
              </a:rPr>
              <a:t>Weak Entities depend on Strong Entities.</a:t>
            </a:r>
            <a:endParaRPr sz="1753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3215" algn="l" rtl="0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" sz="1753" dirty="0">
                <a:latin typeface="Arial"/>
                <a:ea typeface="Arial"/>
                <a:cs typeface="Arial"/>
                <a:sym typeface="Arial"/>
              </a:rPr>
              <a:t>Weak Entities require an Identifying Relationship and a Partial Key.</a:t>
            </a:r>
            <a:endParaRPr sz="1753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323215" algn="l" rtl="0">
              <a:spcBef>
                <a:spcPts val="0"/>
              </a:spcBef>
              <a:spcAft>
                <a:spcPts val="0"/>
              </a:spcAft>
              <a:buSzPct val="100000"/>
              <a:buFont typeface="Arial"/>
              <a:buChar char="●"/>
            </a:pPr>
            <a:r>
              <a:rPr lang="en" sz="1753" dirty="0">
                <a:latin typeface="Arial"/>
                <a:ea typeface="Arial"/>
                <a:cs typeface="Arial"/>
                <a:sym typeface="Arial"/>
              </a:rPr>
              <a:t>Both are essential for designing accurate ER models.</a:t>
            </a:r>
            <a:endParaRPr sz="1753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6"/>
          <p:cNvSpPr txBox="1">
            <a:spLocks noGrp="1"/>
          </p:cNvSpPr>
          <p:nvPr>
            <p:ph type="body" idx="1"/>
          </p:nvPr>
        </p:nvSpPr>
        <p:spPr>
          <a:xfrm>
            <a:off x="311701" y="1164274"/>
            <a:ext cx="8520600" cy="333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3600" dirty="0" smtClean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 smtClean="0"/>
              <a:t>THANK YOU</a:t>
            </a:r>
            <a:endParaRPr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Pop">
  <a:themeElements>
    <a:clrScheme name="Pop">
      <a:dk1>
        <a:srgbClr val="F8E71C"/>
      </a:dk1>
      <a:lt1>
        <a:srgbClr val="FFFFFF"/>
      </a:lt1>
      <a:dk2>
        <a:srgbClr val="000000"/>
      </a:dk2>
      <a:lt2>
        <a:srgbClr val="D9D9D9"/>
      </a:lt2>
      <a:accent1>
        <a:srgbClr val="666666"/>
      </a:accent1>
      <a:accent2>
        <a:srgbClr val="483165"/>
      </a:accent2>
      <a:accent3>
        <a:srgbClr val="EB1E95"/>
      </a:accent3>
      <a:accent4>
        <a:srgbClr val="01AFD1"/>
      </a:accent4>
      <a:accent5>
        <a:srgbClr val="0F9D58"/>
      </a:accent5>
      <a:accent6>
        <a:srgbClr val="9C27B0"/>
      </a:accent6>
      <a:hlink>
        <a:srgbClr val="0F9D58"/>
      </a:hlink>
      <a:folHlink>
        <a:srgbClr val="0F9D5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1162</Words>
  <Application>Microsoft Office PowerPoint</Application>
  <PresentationFormat>On-screen Show (16:9)</PresentationFormat>
  <Paragraphs>251</Paragraphs>
  <Slides>23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Montserrat</vt:lpstr>
      <vt:lpstr>Oswald</vt:lpstr>
      <vt:lpstr>Times New Roman</vt:lpstr>
      <vt:lpstr>Arial</vt:lpstr>
      <vt:lpstr>Playfair Display</vt:lpstr>
      <vt:lpstr>Simple Light</vt:lpstr>
      <vt:lpstr>Pop</vt:lpstr>
      <vt:lpstr>CSA0504 - DATABASE MANAGEMENT SYSTEM  CO1 - AT3 - TECHNICAL PRESENTATION </vt:lpstr>
      <vt:lpstr>QUESTIONS</vt:lpstr>
      <vt:lpstr> INTRODUCTION</vt:lpstr>
      <vt:lpstr>ER DIAGRAM</vt:lpstr>
      <vt:lpstr>COMPONENTS OF THE ER DIAGRAM</vt:lpstr>
      <vt:lpstr>ADVANTAGES &amp; CONCLUSION </vt:lpstr>
      <vt:lpstr>INTRODUCTION </vt:lpstr>
      <vt:lpstr>EER Diagram</vt:lpstr>
      <vt:lpstr>GENERALIZATION AND SPECIALIZATION </vt:lpstr>
      <vt:lpstr>ADVANTAGES &amp; CONCLUSION</vt:lpstr>
      <vt:lpstr>INTRODUCTION</vt:lpstr>
      <vt:lpstr>DBMS THREE-LEVEL ARCHITECTURE</vt:lpstr>
      <vt:lpstr>TYPES OF DATA INDEPENDENCE</vt:lpstr>
      <vt:lpstr>SIGNIFICANCE &amp; CONCLUSION</vt:lpstr>
      <vt:lpstr>INTRODUCTION </vt:lpstr>
      <vt:lpstr>DBMS SOFTWARE ARCHITECTURE </vt:lpstr>
      <vt:lpstr>COMPONENTS </vt:lpstr>
      <vt:lpstr>ADVANTAGES &amp; CONCLUSION</vt:lpstr>
      <vt:lpstr>INTRODUCTION </vt:lpstr>
      <vt:lpstr>STRONG ENTITY VS WEAK ENTITY </vt:lpstr>
      <vt:lpstr>REAL-WORLD EXAMPLE </vt:lpstr>
      <vt:lpstr>ADVANTAGES &amp; CONCLUSION 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CSA0504 - DATABASE MANAGEMENT SYSTEM  CO1 - AT3 - TECHNICAL PRESENTATION </dc:title>
  <cp:lastModifiedBy>Microsoft account</cp:lastModifiedBy>
  <cp:revision>6</cp:revision>
  <dcterms:modified xsi:type="dcterms:W3CDTF">2026-07-23T03:24:42Z</dcterms:modified>
</cp:coreProperties>
</file>