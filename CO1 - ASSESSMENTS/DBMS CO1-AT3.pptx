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6"/>
  </p:notesMasterIdLst>
  <p:sldIdLst>
    <p:sldId id="256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6858000" cy="9144000"/>
  <p:embeddedFontLst>
    <p:embeddedFont>
      <p:font typeface="Montserrat" panose="020B0604020202020204" charset="0"/>
      <p:regular r:id="rId27"/>
      <p:bold r:id="rId28"/>
      <p:italic r:id="rId29"/>
      <p:boldItalic r:id="rId30"/>
    </p:embeddedFont>
    <p:embeddedFont>
      <p:font typeface="Playfair Display" panose="020B0604020202020204" charset="0"/>
      <p:regular r:id="rId31"/>
      <p:bold r:id="rId32"/>
      <p:italic r:id="rId33"/>
      <p:boldItalic r:id="rId34"/>
    </p:embeddedFont>
    <p:embeddedFont>
      <p:font typeface="Oswald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98A04B-FCCB-42F5-947F-410B4F480092}">
  <a:tblStyle styleId="{C298A04B-FCCB-42F5-947F-410B4F4800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25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2740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916fc3f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5916fc3f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395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916fc3f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5916fc3f4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914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916fc3f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5916fc3f4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326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916fc3f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5916fc3f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395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5916fc3f4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5916fc3f4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051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5916fc3f4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5916fc3f4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65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916fc3f4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5916fc3f4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128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916fc3f4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5916fc3f4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2242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916fc3f4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5916fc3f4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481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5916fc3f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5916fc3f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684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5916fc3f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5916fc3f4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002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916fc3f4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5916fc3f4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662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5916fc3f4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5916fc3f4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759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916fc3f4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5916fc3f4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48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916fc3f4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5916fc3f4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2005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5916fc3f4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5916fc3f4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38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916fc3f4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5916fc3f4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530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5916fc3f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5916fc3f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9524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916fc3f4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5916fc3f4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4306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5916fc3f4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5916fc3f4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1211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5916fc3f4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5916fc3f4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2491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916fc3f4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5916fc3f4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3231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sz="6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sz="24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4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sz="4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 hasCustomPrompt="1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23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p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 sz="14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>
            <a:spLocks noGrp="1"/>
          </p:cNvSpPr>
          <p:nvPr>
            <p:ph type="ctrTitle"/>
          </p:nvPr>
        </p:nvSpPr>
        <p:spPr>
          <a:xfrm>
            <a:off x="344250" y="1187625"/>
            <a:ext cx="8455500" cy="23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96"/>
              <a:buNone/>
            </a:pPr>
            <a:r>
              <a:rPr lang="en" sz="3244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CSA0504 - DATABASE MANAGEMENT SYSTEM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endParaRPr sz="24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CO1 - AT3 - TECHNICAL PRESENTATION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</a:pPr>
            <a:endParaRPr sz="2400" b="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5"/>
          <p:cNvSpPr txBox="1">
            <a:spLocks noGrp="1"/>
          </p:cNvSpPr>
          <p:nvPr>
            <p:ph type="subTitle" idx="1"/>
          </p:nvPr>
        </p:nvSpPr>
        <p:spPr>
          <a:xfrm>
            <a:off x="344238" y="3561700"/>
            <a:ext cx="8455500" cy="125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>
                <a:latin typeface="Times New Roman"/>
                <a:ea typeface="Times New Roman"/>
                <a:cs typeface="Times New Roman"/>
                <a:sym typeface="Times New Roman"/>
              </a:rPr>
              <a:t>Presented By:                                                                                    Under The Supervision of :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>
                <a:latin typeface="Times New Roman"/>
                <a:ea typeface="Times New Roman"/>
                <a:cs typeface="Times New Roman"/>
                <a:sym typeface="Times New Roman"/>
              </a:rPr>
              <a:t>V.C.Bhavan Bairav (192511369)                                		     </a:t>
            </a:r>
            <a:r>
              <a:rPr lang="en" sz="1400" dirty="0" smtClean="0">
                <a:latin typeface="Times New Roman"/>
                <a:ea typeface="Times New Roman"/>
                <a:cs typeface="Times New Roman"/>
                <a:sym typeface="Times New Roman"/>
              </a:rPr>
              <a:t>Dr.R.Kesavan</a:t>
            </a:r>
            <a:r>
              <a:rPr lang="en" sz="1400" dirty="0">
                <a:latin typeface="Times New Roman"/>
                <a:ea typeface="Times New Roman"/>
                <a:cs typeface="Times New Roman"/>
                <a:sym typeface="Times New Roman"/>
              </a:rPr>
              <a:t>	                                                                                      </a:t>
            </a: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400" dirty="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</a:t>
            </a:r>
            <a:r>
              <a:rPr lang="en" sz="1400" dirty="0"/>
              <a:t>                                 </a:t>
            </a:r>
            <a:endParaRPr sz="1400" dirty="0"/>
          </a:p>
        </p:txBody>
      </p:sp>
      <p:pic>
        <p:nvPicPr>
          <p:cNvPr id="105" name="Google Shape;105;p25"/>
          <p:cNvPicPr preferRelativeResize="0"/>
          <p:nvPr/>
        </p:nvPicPr>
        <p:blipFill rotWithShape="1">
          <a:blip r:embed="rId3">
            <a:alphaModFix/>
          </a:blip>
          <a:srcRect l="7407"/>
          <a:stretch/>
        </p:blipFill>
        <p:spPr>
          <a:xfrm>
            <a:off x="0" y="0"/>
            <a:ext cx="919163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0125" y="10716"/>
            <a:ext cx="523875" cy="66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85913" y="405988"/>
            <a:ext cx="5572125" cy="61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19" y="319382"/>
            <a:ext cx="8520600" cy="5727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QUESTIONS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012565"/>
              </p:ext>
            </p:extLst>
          </p:nvPr>
        </p:nvGraphicFramePr>
        <p:xfrm>
          <a:off x="742220" y="1209845"/>
          <a:ext cx="7710743" cy="3159729"/>
        </p:xfrm>
        <a:graphic>
          <a:graphicData uri="http://schemas.openxmlformats.org/drawingml/2006/table">
            <a:tbl>
              <a:tblPr firstRow="1" bandRow="1">
                <a:tableStyleId>{C298A04B-FCCB-42F5-947F-410B4F480092}</a:tableStyleId>
              </a:tblPr>
              <a:tblGrid>
                <a:gridCol w="1511062"/>
                <a:gridCol w="6199681"/>
              </a:tblGrid>
              <a:tr h="43275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Q. No.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Question</a:t>
                      </a:r>
                      <a:endParaRPr lang="en-US">
                        <a:effectLst/>
                      </a:endParaRPr>
                    </a:p>
                  </a:txBody>
                  <a:tcPr marL="76200" marR="76200" marT="50800" marB="50800" anchor="ctr"/>
                </a:tc>
              </a:tr>
              <a:tr h="5453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38100" marR="38100" marT="50800" marB="508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Create and present an ER diagram for an Online Library System, explaining each component clearly.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0800" marB="50800"/>
                </a:tc>
              </a:tr>
              <a:tr h="5453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>
                        <a:effectLst/>
                      </a:endParaRPr>
                    </a:p>
                  </a:txBody>
                  <a:tcPr marL="38100" marR="38100" marT="50800" marB="508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Prepare a presentation on the EER model, demonstrating generalization and specialization with a University case study.</a:t>
                      </a:r>
                      <a:endParaRPr lang="en-US">
                        <a:effectLst/>
                      </a:endParaRPr>
                    </a:p>
                  </a:txBody>
                  <a:tcPr marL="76200" marR="76200" marT="50800" marB="50800"/>
                </a:tc>
              </a:tr>
              <a:tr h="5453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>
                        <a:effectLst/>
                      </a:endParaRPr>
                    </a:p>
                  </a:txBody>
                  <a:tcPr marL="38100" marR="38100" marT="50800" marB="508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Present the concept of data independence (logical and physical) and its significance in DBMS architecture.</a:t>
                      </a:r>
                      <a:endParaRPr lang="en-US">
                        <a:effectLst/>
                      </a:endParaRPr>
                    </a:p>
                  </a:txBody>
                  <a:tcPr marL="76200" marR="76200" marT="50800" marB="50800"/>
                </a:tc>
              </a:tr>
              <a:tr h="5453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>
                        <a:effectLst/>
                      </a:endParaRPr>
                    </a:p>
                  </a:txBody>
                  <a:tcPr marL="38100" marR="38100" marT="50800" marB="508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Deliver a technical presentation on the software components of a DBMS, explaining query processor, storage manager, and transaction manager.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0800" marB="50800"/>
                </a:tc>
              </a:tr>
              <a:tr h="54539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>
                        <a:effectLst/>
                      </a:endParaRPr>
                    </a:p>
                  </a:txBody>
                  <a:tcPr marL="38100" marR="38100" marT="50800" marB="50800" anchor="ctr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Prepare a presentation comparing strong and weak entities in ER modeling with real-world examples.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50800" marB="508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27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311700" y="1727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INTRODUCTION</a:t>
            </a:r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311700" y="826960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1) What </a:t>
            </a: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is an ER Diagram?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ER (Entity-Relationship) Diagram is a graphical representation of a database.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It shows </a:t>
            </a: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Entities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It is used to design the database before implementation.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To design a database that efficiently manages: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Library members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Books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Authors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Publishers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Book borrowing information</a:t>
            </a:r>
            <a:endParaRPr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title"/>
          </p:nvPr>
        </p:nvSpPr>
        <p:spPr>
          <a:xfrm>
            <a:off x="311700" y="245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pic>
        <p:nvPicPr>
          <p:cNvPr id="120" name="Google Shape;120;p27" title="ChatGPT Image Jul 22, 2026, 10_40_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150" y="934050"/>
            <a:ext cx="3238026" cy="397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>
            <a:spLocks noGrp="1"/>
          </p:cNvSpPr>
          <p:nvPr>
            <p:ph type="title"/>
          </p:nvPr>
        </p:nvSpPr>
        <p:spPr>
          <a:xfrm>
            <a:off x="220958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COMPONENTS OF THE ER DIAGRAM</a:t>
            </a:r>
            <a:endParaRPr dirty="0"/>
          </a:p>
        </p:txBody>
      </p:sp>
      <p:sp>
        <p:nvSpPr>
          <p:cNvPr id="126" name="Google Shape;126;p28"/>
          <p:cNvSpPr txBox="1">
            <a:spLocks noGrp="1"/>
          </p:cNvSpPr>
          <p:nvPr>
            <p:ph type="body" idx="1"/>
          </p:nvPr>
        </p:nvSpPr>
        <p:spPr>
          <a:xfrm>
            <a:off x="220958" y="897370"/>
            <a:ext cx="41592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Entities: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Member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 – Stores member details.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Book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 – Stores book information.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 – Stores author details.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Publisher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 – Stores publisher details</a:t>
            </a:r>
            <a:r>
              <a:rPr lang="en" sz="1400" dirty="0" smtClean="0">
                <a:latin typeface="Arial"/>
                <a:ea typeface="Arial"/>
                <a:cs typeface="Arial"/>
                <a:sym typeface="Arial"/>
              </a:rPr>
              <a:t>.</a:t>
            </a:r>
            <a:endParaRPr lang="en-US" sz="1400" dirty="0" smtClean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endParaRPr lang="en-US" sz="14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Relationships: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Borrows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Writes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6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75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Publishes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750" dirty="0"/>
          </a:p>
        </p:txBody>
      </p:sp>
      <p:sp>
        <p:nvSpPr>
          <p:cNvPr id="127" name="Google Shape;127;p28"/>
          <p:cNvSpPr txBox="1"/>
          <p:nvPr/>
        </p:nvSpPr>
        <p:spPr>
          <a:xfrm>
            <a:off x="4558040" y="379149"/>
            <a:ext cx="4313736" cy="476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</a:rPr>
              <a:t>2. </a:t>
            </a:r>
            <a:r>
              <a:rPr lang="en" sz="1600" b="1" dirty="0" smtClean="0">
                <a:solidFill>
                  <a:schemeClr val="dk2"/>
                </a:solidFill>
              </a:rPr>
              <a:t>Attributes:</a:t>
            </a:r>
            <a:endParaRPr sz="1600" b="1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</a:rPr>
              <a:t>Member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Member_ID (Primary Key)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Name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Email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Phone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</a:rPr>
              <a:t>Book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Book_ID (Primary Key)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Title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ISBN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Category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</a:rPr>
              <a:t>Author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Author_ID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Author_Name</a:t>
            </a:r>
            <a:endParaRPr sz="12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</a:rPr>
              <a:t>Publisher</a:t>
            </a:r>
            <a:endParaRPr sz="1200" b="1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Publisher_ID</a:t>
            </a:r>
            <a:endParaRPr sz="1200" dirty="0">
              <a:solidFill>
                <a:schemeClr val="dk2"/>
              </a:solidFill>
            </a:endParaRPr>
          </a:p>
          <a:p>
            <a:pPr marL="457200" lvl="0" indent="-30321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75"/>
              <a:buChar char="●"/>
            </a:pPr>
            <a:r>
              <a:rPr lang="en" sz="1200" dirty="0">
                <a:solidFill>
                  <a:schemeClr val="dk2"/>
                </a:solidFill>
              </a:rPr>
              <a:t>Publisher_Name</a:t>
            </a:r>
            <a:endParaRPr sz="12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248879" y="2775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&amp; CONCLUSION </a:t>
            </a:r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46600" y="787380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 b="1" dirty="0" smtClean="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Reduces data redundancy.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Organizes library records efficiently.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Makes searching and managing books easier.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Improves data consistency.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Simplifies future database development.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ER diagrams provide a clear blueprint for database design.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They identify entities, attributes, and relationships.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The Online Library ER model can be easily converted into relational tables for implementation in a DBMS.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311700" y="26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30"/>
          <p:cNvSpPr txBox="1">
            <a:spLocks noGrp="1"/>
          </p:cNvSpPr>
          <p:nvPr>
            <p:ph type="body" idx="1"/>
          </p:nvPr>
        </p:nvSpPr>
        <p:spPr>
          <a:xfrm>
            <a:off x="311700" y="894932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en" sz="1745" b="1" dirty="0" smtClean="0">
                <a:latin typeface="Arial"/>
                <a:ea typeface="Arial"/>
                <a:cs typeface="Arial"/>
                <a:sym typeface="Arial"/>
              </a:rPr>
              <a:t>2) Enhanced </a:t>
            </a:r>
            <a:r>
              <a:rPr lang="en" sz="1745" b="1" dirty="0">
                <a:latin typeface="Arial"/>
                <a:ea typeface="Arial"/>
                <a:cs typeface="Arial"/>
                <a:sym typeface="Arial"/>
              </a:rPr>
              <a:t>Entity-Relationship (EER) Model</a:t>
            </a:r>
            <a:endParaRPr sz="1745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en" sz="1605" b="1" dirty="0">
                <a:latin typeface="Arial"/>
                <a:ea typeface="Arial"/>
                <a:cs typeface="Arial"/>
                <a:sym typeface="Arial"/>
              </a:rPr>
              <a:t>What is an EER Model?</a:t>
            </a:r>
            <a:endParaRPr sz="160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The Enhanced Entity-Relationship (EER) Model is an extension of the ER Model.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It represents more complex real-world scenarios.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It introduces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Inheritance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en" sz="1605" b="1" dirty="0" smtClean="0">
                <a:latin typeface="Arial"/>
                <a:ea typeface="Arial"/>
                <a:cs typeface="Arial"/>
                <a:sym typeface="Arial"/>
              </a:rPr>
              <a:t>Features:</a:t>
            </a:r>
            <a:endParaRPr sz="160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Supports inheritance of attributes.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Reduces data redundancy.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972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35"/>
              <a:buFont typeface="Arial"/>
              <a:buChar char="●"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Models complex organizational structures.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en" sz="1605" b="1" dirty="0" smtClean="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605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35"/>
              <a:buFont typeface="Arial"/>
              <a:buNone/>
            </a:pP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To demonstrate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 using a </a:t>
            </a: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University Management System</a:t>
            </a:r>
            <a:r>
              <a:rPr lang="en" sz="1435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43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endParaRPr sz="2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>
            <a:spLocks noGrp="1"/>
          </p:cNvSpPr>
          <p:nvPr>
            <p:ph type="title"/>
          </p:nvPr>
        </p:nvSpPr>
        <p:spPr>
          <a:xfrm>
            <a:off x="311700" y="236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EER Diagram</a:t>
            </a:r>
            <a:endParaRPr/>
          </a:p>
        </p:txBody>
      </p:sp>
      <p:pic>
        <p:nvPicPr>
          <p:cNvPr id="146" name="Google Shape;146;p31" title="ChatGPT Image Jul 23, 2026, 12_26_4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275" y="1074525"/>
            <a:ext cx="5480874" cy="365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GENERALIZATION AND SPECIALIZATION </a:t>
            </a:r>
            <a:endParaRPr lang="en-US" dirty="0"/>
          </a:p>
        </p:txBody>
      </p:sp>
      <p:sp>
        <p:nvSpPr>
          <p:cNvPr id="152" name="Google Shape;152;p32"/>
          <p:cNvSpPr txBox="1">
            <a:spLocks noGrp="1"/>
          </p:cNvSpPr>
          <p:nvPr>
            <p:ph type="body" idx="1"/>
          </p:nvPr>
        </p:nvSpPr>
        <p:spPr>
          <a:xfrm>
            <a:off x="311700" y="1037288"/>
            <a:ext cx="40707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58"/>
              <a:buFont typeface="Arial"/>
              <a:buNone/>
            </a:pPr>
            <a:r>
              <a:rPr lang="en" b="1" dirty="0" smtClean="0">
                <a:latin typeface="Arial"/>
                <a:ea typeface="Arial"/>
                <a:cs typeface="Arial"/>
                <a:sym typeface="Arial"/>
              </a:rPr>
              <a:t>Generalization: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986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280"/>
              <a:buFont typeface="Arial"/>
              <a:buChar char="●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Bottom-up approach</a:t>
            </a:r>
            <a:r>
              <a:rPr lang="en" sz="1520" dirty="0" smtClean="0">
                <a:latin typeface="Arial"/>
                <a:ea typeface="Arial"/>
                <a:cs typeface="Arial"/>
                <a:sym typeface="Arial"/>
              </a:rPr>
              <a:t>.(Many      One)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●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Combines similar lower-level entities into one higher-level entity.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●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Example: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○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Student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○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Faculty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○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Administrator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○"/>
            </a:pPr>
            <a:r>
              <a:rPr lang="en" sz="1520" dirty="0">
                <a:latin typeface="Arial"/>
                <a:ea typeface="Arial"/>
                <a:cs typeface="Arial"/>
                <a:sym typeface="Arial"/>
              </a:rPr>
              <a:t>⬇</a:t>
            </a:r>
            <a:endParaRPr sz="152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098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80"/>
              <a:buFont typeface="Arial"/>
              <a:buChar char="○"/>
            </a:pPr>
            <a:r>
              <a:rPr lang="en" sz="1520" b="1" dirty="0">
                <a:latin typeface="Arial"/>
                <a:ea typeface="Arial"/>
                <a:cs typeface="Arial"/>
                <a:sym typeface="Arial"/>
              </a:rPr>
              <a:t>Person</a:t>
            </a:r>
            <a:endParaRPr sz="1520" dirty="0"/>
          </a:p>
        </p:txBody>
      </p:sp>
      <p:sp>
        <p:nvSpPr>
          <p:cNvPr id="153" name="Google Shape;153;p32"/>
          <p:cNvSpPr txBox="1"/>
          <p:nvPr/>
        </p:nvSpPr>
        <p:spPr>
          <a:xfrm>
            <a:off x="4630920" y="1017725"/>
            <a:ext cx="4070700" cy="3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358"/>
              <a:buFont typeface="Arial"/>
              <a:buNone/>
            </a:pPr>
            <a:r>
              <a:rPr lang="en" sz="1800" b="1" dirty="0" smtClean="0">
                <a:solidFill>
                  <a:schemeClr val="dk2"/>
                </a:solidFill>
              </a:rPr>
              <a:t>Specialization:</a:t>
            </a:r>
            <a:endParaRPr sz="1800" b="1" dirty="0">
              <a:solidFill>
                <a:schemeClr val="dk2"/>
              </a:solidFill>
            </a:endParaRPr>
          </a:p>
          <a:p>
            <a:pPr marL="457200" lvl="0" indent="-324862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16"/>
              <a:buChar char="●"/>
            </a:pPr>
            <a:r>
              <a:rPr lang="en" sz="1516" dirty="0">
                <a:solidFill>
                  <a:schemeClr val="dk2"/>
                </a:solidFill>
              </a:rPr>
              <a:t>Top-down approach</a:t>
            </a:r>
            <a:r>
              <a:rPr lang="en" sz="1516" dirty="0" smtClean="0">
                <a:solidFill>
                  <a:schemeClr val="dk2"/>
                </a:solidFill>
              </a:rPr>
              <a:t>.(One      Many)</a:t>
            </a:r>
            <a:endParaRPr sz="1516" dirty="0">
              <a:solidFill>
                <a:schemeClr val="dk2"/>
              </a:solidFill>
            </a:endParaRPr>
          </a:p>
          <a:p>
            <a:pPr marL="457200" lvl="0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●"/>
            </a:pPr>
            <a:r>
              <a:rPr lang="en" sz="1516" dirty="0">
                <a:solidFill>
                  <a:schemeClr val="dk2"/>
                </a:solidFill>
              </a:rPr>
              <a:t>Divides one higher-level entity into more specific entities.</a:t>
            </a:r>
            <a:endParaRPr sz="1516" dirty="0">
              <a:solidFill>
                <a:schemeClr val="dk2"/>
              </a:solidFill>
            </a:endParaRPr>
          </a:p>
          <a:p>
            <a:pPr marL="457200" lvl="0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●"/>
            </a:pPr>
            <a:r>
              <a:rPr lang="en" sz="1516" dirty="0">
                <a:solidFill>
                  <a:schemeClr val="dk2"/>
                </a:solidFill>
              </a:rPr>
              <a:t>Example: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Person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⬇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Student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Faculty</a:t>
            </a:r>
            <a:endParaRPr sz="1516" dirty="0">
              <a:solidFill>
                <a:schemeClr val="dk2"/>
              </a:solidFill>
            </a:endParaRPr>
          </a:p>
          <a:p>
            <a:pPr marL="457200" lvl="0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●"/>
            </a:pPr>
            <a:r>
              <a:rPr lang="en" sz="1516" dirty="0">
                <a:solidFill>
                  <a:schemeClr val="dk2"/>
                </a:solidFill>
              </a:rPr>
              <a:t>Student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⬇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Undergraduate Student</a:t>
            </a:r>
            <a:endParaRPr sz="1516" dirty="0">
              <a:solidFill>
                <a:schemeClr val="dk2"/>
              </a:solidFill>
            </a:endParaRPr>
          </a:p>
          <a:p>
            <a:pPr marL="914400" lvl="1" indent="-32486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16"/>
              <a:buChar char="○"/>
            </a:pPr>
            <a:r>
              <a:rPr lang="en" sz="1516" dirty="0">
                <a:solidFill>
                  <a:schemeClr val="dk2"/>
                </a:solidFill>
              </a:rPr>
              <a:t>Postgraduate Student</a:t>
            </a:r>
            <a:endParaRPr sz="1613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252750" y="1912562"/>
            <a:ext cx="209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404778" y="1904419"/>
            <a:ext cx="209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ADVANTAGES &amp; CONCLUSION</a:t>
            </a:r>
            <a:endParaRPr lang="en-US" dirty="0"/>
          </a:p>
        </p:txBody>
      </p:sp>
      <p:sp>
        <p:nvSpPr>
          <p:cNvPr id="159" name="Google Shape;159;p33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Advantages of EER </a:t>
            </a: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Model: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Models complex real-world systems.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Supports inheritance of attributes.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Reduces redundancy.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Improves database organization.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Makes database maintenance easier.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Conclusion</a:t>
            </a:r>
            <a:r>
              <a:rPr lang="en-US" sz="1700" b="1" dirty="0" smtClean="0">
                <a:latin typeface="Arial"/>
                <a:ea typeface="Arial"/>
                <a:cs typeface="Arial"/>
                <a:sym typeface="Arial"/>
              </a:rPr>
              <a:t>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2180" algn="l" rtl="0">
              <a:spcBef>
                <a:spcPts val="1200"/>
              </a:spcBef>
              <a:spcAft>
                <a:spcPts val="0"/>
              </a:spcAft>
              <a:buSzPts val="1316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EER extends the traditional ER model.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2180" algn="l" rtl="0">
              <a:spcBef>
                <a:spcPts val="0"/>
              </a:spcBef>
              <a:spcAft>
                <a:spcPts val="0"/>
              </a:spcAft>
              <a:buSzPts val="1316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Generalization and Specialization improve database flexibility.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2180" algn="l" rtl="0">
              <a:spcBef>
                <a:spcPts val="0"/>
              </a:spcBef>
              <a:spcAft>
                <a:spcPts val="0"/>
              </a:spcAft>
              <a:buSzPts val="1316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The University case study demonstrates efficient modeling of people and their roles.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>
            <a:spLocks noGrp="1"/>
          </p:cNvSpPr>
          <p:nvPr>
            <p:ph type="title"/>
          </p:nvPr>
        </p:nvSpPr>
        <p:spPr>
          <a:xfrm>
            <a:off x="227150" y="38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65" name="Google Shape;165;p34"/>
          <p:cNvSpPr txBox="1">
            <a:spLocks noGrp="1"/>
          </p:cNvSpPr>
          <p:nvPr>
            <p:ph type="body" idx="1"/>
          </p:nvPr>
        </p:nvSpPr>
        <p:spPr>
          <a:xfrm>
            <a:off x="297739" y="358541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6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 dirty="0" smtClean="0">
                <a:latin typeface="Arial"/>
                <a:ea typeface="Arial"/>
                <a:cs typeface="Arial"/>
                <a:sym typeface="Arial"/>
              </a:rPr>
              <a:t>3) Data </a:t>
            </a:r>
            <a:r>
              <a:rPr lang="en" b="1" dirty="0">
                <a:latin typeface="Arial"/>
                <a:ea typeface="Arial"/>
                <a:cs typeface="Arial"/>
                <a:sym typeface="Arial"/>
              </a:rPr>
              <a:t>Independence in DBMS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What is Data Independence?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Data Independence is the ability to modify the database schema without affecting application programs.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It allows changes at one level of the database without impacting higher levels.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It is achieved through the </a:t>
            </a: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three-level DBMS architecture (ANSI/SPARC)</a:t>
            </a: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Types of Data </a:t>
            </a: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Independence: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Physical Data Independence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Logical Data Independence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DBMS THREE-LEVEL ARCHITECTURE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83" y="1209628"/>
            <a:ext cx="7461783" cy="33008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>
            <a:spLocks noGrp="1"/>
          </p:cNvSpPr>
          <p:nvPr>
            <p:ph type="title"/>
          </p:nvPr>
        </p:nvSpPr>
        <p:spPr>
          <a:xfrm>
            <a:off x="311700" y="275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TYPES OF DATA INDEPENDENCE</a:t>
            </a:r>
            <a:endParaRPr lang="en-US" dirty="0"/>
          </a:p>
        </p:txBody>
      </p:sp>
      <p:sp>
        <p:nvSpPr>
          <p:cNvPr id="178" name="Google Shape;178;p36"/>
          <p:cNvSpPr txBox="1">
            <a:spLocks noGrp="1"/>
          </p:cNvSpPr>
          <p:nvPr>
            <p:ph type="body" idx="1"/>
          </p:nvPr>
        </p:nvSpPr>
        <p:spPr>
          <a:xfrm>
            <a:off x="311700" y="702042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1. Physical Data </a:t>
            </a:r>
            <a:r>
              <a:rPr lang="en" sz="1435" b="1" dirty="0" smtClean="0">
                <a:latin typeface="Arial"/>
                <a:ea typeface="Arial"/>
                <a:cs typeface="Arial"/>
                <a:sym typeface="Arial"/>
              </a:rPr>
              <a:t>Independence:</a:t>
            </a:r>
            <a:endParaRPr sz="1435" b="1" dirty="0">
              <a:latin typeface="Arial"/>
              <a:ea typeface="Arial"/>
              <a:cs typeface="Arial"/>
              <a:sym typeface="Arial"/>
            </a:endParaRPr>
          </a:p>
          <a:p>
            <a:pPr lvl="0" indent="-322748">
              <a:lnSpc>
                <a:spcPct val="95000"/>
              </a:lnSpc>
              <a:spcBef>
                <a:spcPts val="1200"/>
              </a:spcBef>
              <a:buSzPts val="1483"/>
              <a:buFont typeface="Arial"/>
              <a:buChar char="●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Changes in physical </a:t>
            </a:r>
            <a:r>
              <a:rPr lang="en" sz="1483" dirty="0" smtClean="0">
                <a:latin typeface="Arial"/>
                <a:ea typeface="Arial"/>
                <a:cs typeface="Arial"/>
                <a:sym typeface="Arial"/>
              </a:rPr>
              <a:t>storage </a:t>
            </a: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do not affect the conceptual </a:t>
            </a:r>
            <a:r>
              <a:rPr lang="en" sz="1483" dirty="0" smtClean="0"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lang="en" sz="140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80" dirty="0" smtClean="0">
                <a:latin typeface="Arial"/>
                <a:ea typeface="Arial"/>
                <a:cs typeface="Arial"/>
                <a:sym typeface="Arial"/>
              </a:rPr>
              <a:t>(Logical </a:t>
            </a:r>
            <a:r>
              <a:rPr lang="en" sz="1480" dirty="0">
                <a:latin typeface="Arial"/>
                <a:ea typeface="Arial"/>
                <a:cs typeface="Arial"/>
                <a:sym typeface="Arial"/>
              </a:rPr>
              <a:t>level)</a:t>
            </a:r>
            <a:r>
              <a:rPr lang="en" sz="1480" dirty="0" smtClean="0">
                <a:latin typeface="Arial"/>
                <a:ea typeface="Arial"/>
                <a:cs typeface="Arial"/>
                <a:sym typeface="Arial"/>
              </a:rPr>
              <a:t>.</a:t>
            </a:r>
            <a:endParaRPr sz="148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74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Font typeface="Arial"/>
              <a:buChar char="●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Examples:</a:t>
            </a:r>
            <a:endParaRPr sz="1483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274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Font typeface="Arial"/>
              <a:buChar char="○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Changing file organization</a:t>
            </a:r>
            <a:endParaRPr sz="1483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274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Font typeface="Arial"/>
              <a:buChar char="○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Creating indexes</a:t>
            </a:r>
            <a:endParaRPr sz="1483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274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Font typeface="Arial"/>
              <a:buChar char="○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Changing storage devices</a:t>
            </a:r>
            <a:endParaRPr sz="1483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74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83"/>
              <a:buFont typeface="Arial"/>
              <a:buChar char="●"/>
            </a:pPr>
            <a:r>
              <a:rPr lang="en" sz="1483" dirty="0">
                <a:latin typeface="Arial"/>
                <a:ea typeface="Arial"/>
                <a:cs typeface="Arial"/>
                <a:sym typeface="Arial"/>
              </a:rPr>
              <a:t>Easier to achieve.</a:t>
            </a:r>
            <a:endParaRPr sz="110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435" b="1" dirty="0">
                <a:latin typeface="Arial"/>
                <a:ea typeface="Arial"/>
                <a:cs typeface="Arial"/>
                <a:sym typeface="Arial"/>
              </a:rPr>
              <a:t>2. Logical Data </a:t>
            </a:r>
            <a:r>
              <a:rPr lang="en" sz="1435" b="1" dirty="0" smtClean="0">
                <a:latin typeface="Arial"/>
                <a:ea typeface="Arial"/>
                <a:cs typeface="Arial"/>
                <a:sym typeface="Arial"/>
              </a:rPr>
              <a:t>Independence:</a:t>
            </a:r>
            <a:endParaRPr sz="143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23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69"/>
              <a:buFont typeface="Arial"/>
              <a:buChar char="●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Changes in the </a:t>
            </a:r>
            <a:r>
              <a:rPr lang="en" sz="1569" dirty="0" smtClean="0">
                <a:latin typeface="Arial"/>
                <a:ea typeface="Arial"/>
                <a:cs typeface="Arial"/>
                <a:sym typeface="Arial"/>
              </a:rPr>
              <a:t>schema (Logical level) </a:t>
            </a: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do not affect user </a:t>
            </a:r>
            <a:r>
              <a:rPr lang="en" sz="1569" dirty="0" smtClean="0">
                <a:latin typeface="Arial"/>
                <a:ea typeface="Arial"/>
                <a:cs typeface="Arial"/>
                <a:sym typeface="Arial"/>
              </a:rPr>
              <a:t>views (External Level).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2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9"/>
              <a:buFont typeface="Arial"/>
              <a:buChar char="●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Examples: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82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9"/>
              <a:buFont typeface="Arial"/>
              <a:buChar char="○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Adding new attributes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82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9"/>
              <a:buFont typeface="Arial"/>
              <a:buChar char="○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Adding new entities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282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9"/>
              <a:buFont typeface="Arial"/>
              <a:buChar char="○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Modifying relationships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82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9"/>
              <a:buFont typeface="Arial"/>
              <a:buChar char="●"/>
            </a:pPr>
            <a:r>
              <a:rPr lang="en" sz="1569" dirty="0">
                <a:latin typeface="Arial"/>
                <a:ea typeface="Arial"/>
                <a:cs typeface="Arial"/>
                <a:sym typeface="Arial"/>
              </a:rPr>
              <a:t>More difficult to achieve.</a:t>
            </a:r>
            <a:endParaRPr sz="1569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4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>
            <a:spLocks noGrp="1"/>
          </p:cNvSpPr>
          <p:nvPr>
            <p:ph type="title"/>
          </p:nvPr>
        </p:nvSpPr>
        <p:spPr>
          <a:xfrm>
            <a:off x="304720" y="24958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SIGNIFICANCE &amp; CONCLUSION</a:t>
            </a:r>
            <a:endParaRPr lang="en-US" dirty="0"/>
          </a:p>
        </p:txBody>
      </p:sp>
      <p:sp>
        <p:nvSpPr>
          <p:cNvPr id="184" name="Google Shape;184;p37"/>
          <p:cNvSpPr txBox="1">
            <a:spLocks noGrp="1"/>
          </p:cNvSpPr>
          <p:nvPr>
            <p:ph type="body" idx="1"/>
          </p:nvPr>
        </p:nvSpPr>
        <p:spPr>
          <a:xfrm>
            <a:off x="243035" y="822281"/>
            <a:ext cx="8990100" cy="37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Significance of Data </a:t>
            </a: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Independence: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7121" algn="l" rtl="0">
              <a:spcBef>
                <a:spcPts val="1200"/>
              </a:spcBef>
              <a:spcAft>
                <a:spcPts val="0"/>
              </a:spcAft>
              <a:buSzPts val="1552"/>
              <a:buFont typeface="Arial"/>
              <a:buChar char="●"/>
            </a:pPr>
            <a:r>
              <a:rPr lang="en" sz="1552" dirty="0">
                <a:latin typeface="Arial"/>
                <a:ea typeface="Arial"/>
                <a:cs typeface="Arial"/>
                <a:sym typeface="Arial"/>
              </a:rPr>
              <a:t>Reduces application maintenance.</a:t>
            </a:r>
            <a:endParaRPr sz="1552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7121" algn="l" rtl="0">
              <a:spcBef>
                <a:spcPts val="0"/>
              </a:spcBef>
              <a:spcAft>
                <a:spcPts val="0"/>
              </a:spcAft>
              <a:buSzPts val="1552"/>
              <a:buFont typeface="Arial"/>
              <a:buChar char="●"/>
            </a:pPr>
            <a:r>
              <a:rPr lang="en" sz="1552" dirty="0">
                <a:latin typeface="Arial"/>
                <a:ea typeface="Arial"/>
                <a:cs typeface="Arial"/>
                <a:sym typeface="Arial"/>
              </a:rPr>
              <a:t>Provides flexibility in database design.</a:t>
            </a:r>
            <a:endParaRPr sz="1552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7121" algn="l" rtl="0">
              <a:spcBef>
                <a:spcPts val="0"/>
              </a:spcBef>
              <a:spcAft>
                <a:spcPts val="0"/>
              </a:spcAft>
              <a:buSzPts val="1552"/>
              <a:buFont typeface="Arial"/>
              <a:buChar char="●"/>
            </a:pPr>
            <a:r>
              <a:rPr lang="en" sz="1552" dirty="0">
                <a:latin typeface="Arial"/>
                <a:ea typeface="Arial"/>
                <a:cs typeface="Arial"/>
                <a:sym typeface="Arial"/>
              </a:rPr>
              <a:t>Improves data consistency.</a:t>
            </a:r>
            <a:endParaRPr sz="1552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7121" algn="l" rtl="0">
              <a:spcBef>
                <a:spcPts val="0"/>
              </a:spcBef>
              <a:spcAft>
                <a:spcPts val="0"/>
              </a:spcAft>
              <a:buSzPts val="1552"/>
              <a:buFont typeface="Arial"/>
              <a:buChar char="●"/>
            </a:pPr>
            <a:r>
              <a:rPr lang="en" sz="1552" dirty="0">
                <a:latin typeface="Arial"/>
                <a:ea typeface="Arial"/>
                <a:cs typeface="Arial"/>
                <a:sym typeface="Arial"/>
              </a:rPr>
              <a:t>Enhances scalability.</a:t>
            </a:r>
            <a:endParaRPr sz="1552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7121" algn="l" rtl="0">
              <a:spcBef>
                <a:spcPts val="0"/>
              </a:spcBef>
              <a:spcAft>
                <a:spcPts val="0"/>
              </a:spcAft>
              <a:buSzPts val="1552"/>
              <a:buFont typeface="Arial"/>
              <a:buChar char="●"/>
            </a:pPr>
            <a:r>
              <a:rPr lang="en" sz="1552" dirty="0">
                <a:latin typeface="Arial"/>
                <a:ea typeface="Arial"/>
                <a:cs typeface="Arial"/>
                <a:sym typeface="Arial"/>
              </a:rPr>
              <a:t>Simplifies database administration.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501" algn="l" rtl="0">
              <a:spcBef>
                <a:spcPts val="1200"/>
              </a:spcBef>
              <a:spcAft>
                <a:spcPts val="0"/>
              </a:spcAft>
              <a:buSzPts val="1605"/>
              <a:buFont typeface="Arial"/>
              <a:buChar char="●"/>
            </a:pPr>
            <a:r>
              <a:rPr lang="en" sz="1605" dirty="0">
                <a:latin typeface="Arial"/>
                <a:ea typeface="Arial"/>
                <a:cs typeface="Arial"/>
                <a:sym typeface="Arial"/>
              </a:rPr>
              <a:t>Data Independence is a key feature of DBMS architecture.</a:t>
            </a:r>
            <a:endParaRPr sz="16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501" algn="l" rtl="0">
              <a:spcBef>
                <a:spcPts val="0"/>
              </a:spcBef>
              <a:spcAft>
                <a:spcPts val="0"/>
              </a:spcAft>
              <a:buSzPts val="1605"/>
              <a:buFont typeface="Arial"/>
              <a:buChar char="●"/>
            </a:pPr>
            <a:r>
              <a:rPr lang="en" sz="1605" dirty="0">
                <a:latin typeface="Arial"/>
                <a:ea typeface="Arial"/>
                <a:cs typeface="Arial"/>
                <a:sym typeface="Arial"/>
              </a:rPr>
              <a:t>Physical Data Independence deals with storage changes.</a:t>
            </a:r>
            <a:endParaRPr sz="16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501" algn="l" rtl="0">
              <a:spcBef>
                <a:spcPts val="0"/>
              </a:spcBef>
              <a:spcAft>
                <a:spcPts val="0"/>
              </a:spcAft>
              <a:buSzPts val="1605"/>
              <a:buFont typeface="Arial"/>
              <a:buChar char="●"/>
            </a:pPr>
            <a:r>
              <a:rPr lang="en" sz="1605" dirty="0">
                <a:latin typeface="Arial"/>
                <a:ea typeface="Arial"/>
                <a:cs typeface="Arial"/>
                <a:sym typeface="Arial"/>
              </a:rPr>
              <a:t>Logical Data Independence deals with schema changes.</a:t>
            </a:r>
            <a:endParaRPr sz="16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501" algn="l" rtl="0">
              <a:spcBef>
                <a:spcPts val="0"/>
              </a:spcBef>
              <a:spcAft>
                <a:spcPts val="0"/>
              </a:spcAft>
              <a:buSzPts val="1605"/>
              <a:buFont typeface="Arial"/>
              <a:buChar char="●"/>
            </a:pPr>
            <a:r>
              <a:rPr lang="en" sz="1605" dirty="0">
                <a:latin typeface="Arial"/>
                <a:ea typeface="Arial"/>
                <a:cs typeface="Arial"/>
                <a:sym typeface="Arial"/>
              </a:rPr>
              <a:t>It makes databases reliable, maintainable, and scalable.</a:t>
            </a:r>
            <a:endParaRPr sz="160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>
            <a:spLocks noGrp="1"/>
          </p:cNvSpPr>
          <p:nvPr>
            <p:ph type="title"/>
          </p:nvPr>
        </p:nvSpPr>
        <p:spPr>
          <a:xfrm>
            <a:off x="311700" y="26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190" name="Google Shape;190;p38"/>
          <p:cNvSpPr txBox="1">
            <a:spLocks noGrp="1"/>
          </p:cNvSpPr>
          <p:nvPr>
            <p:ph type="body" idx="1"/>
          </p:nvPr>
        </p:nvSpPr>
        <p:spPr>
          <a:xfrm>
            <a:off x="240600" y="947313"/>
            <a:ext cx="8662800" cy="3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4) Software </a:t>
            </a: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Components of a DBMS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What is a DBMS?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A Database Management System (DBMS) is software used to create, store, retrieve, and manage data.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dirty="0">
                <a:latin typeface="Arial"/>
                <a:ea typeface="Arial"/>
                <a:cs typeface="Arial"/>
                <a:sym typeface="Arial"/>
              </a:rPr>
              <a:t>It acts as an interface between users and the database.</a:t>
            </a: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 b="1" dirty="0">
                <a:latin typeface="Arial"/>
                <a:ea typeface="Arial"/>
                <a:cs typeface="Arial"/>
                <a:sym typeface="Arial"/>
              </a:rPr>
              <a:t>Main Software </a:t>
            </a:r>
            <a:r>
              <a:rPr lang="en" sz="1600" b="1" dirty="0" smtClean="0">
                <a:latin typeface="Arial"/>
                <a:ea typeface="Arial"/>
                <a:cs typeface="Arial"/>
                <a:sym typeface="Arial"/>
              </a:rPr>
              <a:t>Components:</a:t>
            </a:r>
            <a:endParaRPr sz="16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Query Processor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Storage Manager</a:t>
            </a:r>
            <a:endParaRPr sz="14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 b="1" dirty="0">
                <a:latin typeface="Arial"/>
                <a:ea typeface="Arial"/>
                <a:cs typeface="Arial"/>
                <a:sym typeface="Arial"/>
              </a:rPr>
              <a:t>Transaction Manager</a:t>
            </a:r>
            <a:endParaRPr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>
            <a:spLocks noGrp="1"/>
          </p:cNvSpPr>
          <p:nvPr>
            <p:ph type="title"/>
          </p:nvPr>
        </p:nvSpPr>
        <p:spPr>
          <a:xfrm>
            <a:off x="311700" y="236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DBMS SOFTWARE ARCHITECTURE </a:t>
            </a:r>
            <a:endParaRPr lang="en-US" dirty="0"/>
          </a:p>
        </p:txBody>
      </p:sp>
      <p:sp>
        <p:nvSpPr>
          <p:cNvPr id="196" name="Google Shape;196;p39"/>
          <p:cNvSpPr txBox="1">
            <a:spLocks noGrp="1"/>
          </p:cNvSpPr>
          <p:nvPr>
            <p:ph type="body" idx="1"/>
          </p:nvPr>
        </p:nvSpPr>
        <p:spPr>
          <a:xfrm>
            <a:off x="3607475" y="1234075"/>
            <a:ext cx="52248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 dirty="0" smtClean="0">
                <a:latin typeface="Arial"/>
                <a:ea typeface="Arial"/>
                <a:cs typeface="Arial"/>
                <a:sym typeface="Arial"/>
              </a:rPr>
              <a:t>Flow: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User submits SQL query.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Query Processor interprets and optimizes it.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Storage Manager accesses data.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 dirty="0">
                <a:latin typeface="Arial"/>
                <a:ea typeface="Arial"/>
                <a:cs typeface="Arial"/>
                <a:sym typeface="Arial"/>
              </a:rPr>
              <a:t>Transaction Manager ensures consistency and recovery.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04" y="645226"/>
            <a:ext cx="1740465" cy="40508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0"/>
          <p:cNvSpPr txBox="1">
            <a:spLocks noGrp="1"/>
          </p:cNvSpPr>
          <p:nvPr>
            <p:ph type="title"/>
          </p:nvPr>
        </p:nvSpPr>
        <p:spPr>
          <a:xfrm>
            <a:off x="281400" y="325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COMPONENTS </a:t>
            </a:r>
            <a:endParaRPr lang="en-US" dirty="0"/>
          </a:p>
        </p:txBody>
      </p:sp>
      <p:sp>
        <p:nvSpPr>
          <p:cNvPr id="203" name="Google Shape;203;p40"/>
          <p:cNvSpPr txBox="1"/>
          <p:nvPr/>
        </p:nvSpPr>
        <p:spPr>
          <a:xfrm>
            <a:off x="76350" y="1474600"/>
            <a:ext cx="30291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853"/>
              <a:buFont typeface="Arial"/>
              <a:buNone/>
            </a:pPr>
            <a:r>
              <a:rPr lang="en" sz="1718" b="1" dirty="0">
                <a:solidFill>
                  <a:schemeClr val="dk2"/>
                </a:solidFill>
              </a:rPr>
              <a:t>1. Query Processor</a:t>
            </a:r>
            <a:endParaRPr sz="1718" b="1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Interprets SQL queries.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Checks syntax and semantics.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Optimizes query execution.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Generates an execution plan.</a:t>
            </a:r>
            <a:endParaRPr sz="1453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4" name="Google Shape;204;p40"/>
          <p:cNvSpPr txBox="1"/>
          <p:nvPr/>
        </p:nvSpPr>
        <p:spPr>
          <a:xfrm>
            <a:off x="3105450" y="1440700"/>
            <a:ext cx="2872500" cy="27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18" b="1">
                <a:solidFill>
                  <a:schemeClr val="dk2"/>
                </a:solidFill>
              </a:rPr>
              <a:t>2. Storage Manager</a:t>
            </a:r>
            <a:endParaRPr sz="1718" b="1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>
                <a:solidFill>
                  <a:schemeClr val="dk2"/>
                </a:solidFill>
              </a:rPr>
              <a:t>Manages physical storage.</a:t>
            </a:r>
            <a:endParaRPr sz="1453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>
                <a:solidFill>
                  <a:schemeClr val="dk2"/>
                </a:solidFill>
              </a:rPr>
              <a:t>Retrieves and stores data.</a:t>
            </a:r>
            <a:endParaRPr sz="1453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>
                <a:solidFill>
                  <a:schemeClr val="dk2"/>
                </a:solidFill>
              </a:rPr>
              <a:t>Handles indexes and buffers.</a:t>
            </a:r>
            <a:endParaRPr sz="1453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>
                <a:solidFill>
                  <a:schemeClr val="dk2"/>
                </a:solidFill>
              </a:rPr>
              <a:t>Organizes files efficiently.</a:t>
            </a:r>
            <a:endParaRPr sz="1453">
              <a:solidFill>
                <a:schemeClr val="dk2"/>
              </a:solidFill>
            </a:endParaRPr>
          </a:p>
        </p:txBody>
      </p:sp>
      <p:sp>
        <p:nvSpPr>
          <p:cNvPr id="205" name="Google Shape;205;p40"/>
          <p:cNvSpPr txBox="1"/>
          <p:nvPr/>
        </p:nvSpPr>
        <p:spPr>
          <a:xfrm>
            <a:off x="6054300" y="1440700"/>
            <a:ext cx="2872500" cy="3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18" b="1" dirty="0">
                <a:solidFill>
                  <a:schemeClr val="dk2"/>
                </a:solidFill>
              </a:rPr>
              <a:t>3. Transaction Manager</a:t>
            </a:r>
            <a:endParaRPr sz="1718" b="1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Ensures ACID properties.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Controls concurrent transactions.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Performs commit and rollback.</a:t>
            </a:r>
            <a:endParaRPr sz="1453" dirty="0">
              <a:solidFill>
                <a:schemeClr val="dk2"/>
              </a:solidFill>
            </a:endParaRPr>
          </a:p>
          <a:p>
            <a:pPr marL="457200" lvl="0" indent="-320834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53"/>
              <a:buChar char="●"/>
            </a:pPr>
            <a:r>
              <a:rPr lang="en" sz="1453" dirty="0">
                <a:solidFill>
                  <a:schemeClr val="dk2"/>
                </a:solidFill>
              </a:rPr>
              <a:t>Supports crash recovery.</a:t>
            </a:r>
            <a:endParaRPr sz="1995" dirty="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1"/>
          <p:cNvSpPr txBox="1">
            <a:spLocks noGrp="1"/>
          </p:cNvSpPr>
          <p:nvPr>
            <p:ph type="title"/>
          </p:nvPr>
        </p:nvSpPr>
        <p:spPr>
          <a:xfrm>
            <a:off x="311700" y="31240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ADVANTAGES &amp; CONCLUSION</a:t>
            </a:r>
            <a:endParaRPr lang="en-US" dirty="0"/>
          </a:p>
        </p:txBody>
      </p:sp>
      <p:sp>
        <p:nvSpPr>
          <p:cNvPr id="211" name="Google Shape;211;p41"/>
          <p:cNvSpPr txBox="1">
            <a:spLocks noGrp="1"/>
          </p:cNvSpPr>
          <p:nvPr>
            <p:ph type="body" idx="1"/>
          </p:nvPr>
        </p:nvSpPr>
        <p:spPr>
          <a:xfrm>
            <a:off x="311700" y="961849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lang="en" sz="1873" b="1" dirty="0" smtClean="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87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Fast query execution.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Efficient data storage.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Safe transaction processing.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Supports multiple users.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Ensures data integrity and reliability.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lang="en" sz="1873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endParaRPr sz="187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The Query Processor manages SQL queries.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The Storage Manager manages data storage.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The Transaction Manager guarantees reliable transactions.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49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18"/>
              <a:buFont typeface="Arial"/>
              <a:buChar char="●"/>
            </a:pPr>
            <a:r>
              <a:rPr lang="en" sz="1518" dirty="0">
                <a:latin typeface="Arial"/>
                <a:ea typeface="Arial"/>
                <a:cs typeface="Arial"/>
                <a:sym typeface="Arial"/>
              </a:rPr>
              <a:t>Together, these components make a DBMS efficient, secure, and reliable.</a:t>
            </a:r>
            <a:endParaRPr sz="1518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96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"/>
          <p:cNvSpPr txBox="1">
            <a:spLocks noGrp="1"/>
          </p:cNvSpPr>
          <p:nvPr>
            <p:ph type="title"/>
          </p:nvPr>
        </p:nvSpPr>
        <p:spPr>
          <a:xfrm>
            <a:off x="311700" y="27290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217" name="Google Shape;217;p42"/>
          <p:cNvSpPr txBox="1">
            <a:spLocks noGrp="1"/>
          </p:cNvSpPr>
          <p:nvPr>
            <p:ph type="body" idx="1"/>
          </p:nvPr>
        </p:nvSpPr>
        <p:spPr>
          <a:xfrm>
            <a:off x="311700" y="912988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100" b="1" dirty="0" smtClean="0">
                <a:latin typeface="Arial"/>
                <a:ea typeface="Arial"/>
                <a:cs typeface="Arial"/>
                <a:sym typeface="Arial"/>
              </a:rPr>
              <a:t>5) Strong </a:t>
            </a:r>
            <a:r>
              <a:rPr lang="en" sz="2100" b="1" dirty="0">
                <a:latin typeface="Arial"/>
                <a:ea typeface="Arial"/>
                <a:cs typeface="Arial"/>
                <a:sym typeface="Arial"/>
              </a:rPr>
              <a:t>and Weak Entities in ER Modeling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What is an Entity?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An entity is a real-world object that can be uniquely identified.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Entities are represented by </a:t>
            </a: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rectangles</a:t>
            </a: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 in an ER diagram.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>
                <a:latin typeface="Arial"/>
                <a:ea typeface="Arial"/>
                <a:cs typeface="Arial"/>
                <a:sym typeface="Arial"/>
              </a:rPr>
              <a:t>Types of </a:t>
            </a: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Entities: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Strong Entity</a:t>
            </a: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" sz="1500" b="1" dirty="0">
                <a:latin typeface="Arial"/>
                <a:ea typeface="Arial"/>
                <a:cs typeface="Arial"/>
                <a:sym typeface="Arial"/>
              </a:rPr>
              <a:t>Weak Entity</a:t>
            </a:r>
            <a:endParaRPr sz="15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 dirty="0">
                <a:latin typeface="Arial"/>
                <a:ea typeface="Arial"/>
                <a:cs typeface="Arial"/>
                <a:sym typeface="Arial"/>
              </a:rPr>
              <a:t>To compare strong and weak entities using real-world examples.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STRONG ENTITY VS WEAK ENTITY </a:t>
            </a:r>
            <a:endParaRPr lang="en-US" dirty="0"/>
          </a:p>
        </p:txBody>
      </p:sp>
      <p:graphicFrame>
        <p:nvGraphicFramePr>
          <p:cNvPr id="223" name="Google Shape;223;p43"/>
          <p:cNvGraphicFramePr/>
          <p:nvPr>
            <p:extLst>
              <p:ext uri="{D42A27DB-BD31-4B8C-83A1-F6EECF244321}">
                <p14:modId xmlns:p14="http://schemas.microsoft.com/office/powerpoint/2010/main" val="2643525558"/>
              </p:ext>
            </p:extLst>
          </p:nvPr>
        </p:nvGraphicFramePr>
        <p:xfrm>
          <a:off x="602750" y="1309625"/>
          <a:ext cx="7938500" cy="3240000"/>
        </p:xfrm>
        <a:graphic>
          <a:graphicData uri="http://schemas.openxmlformats.org/drawingml/2006/table">
            <a:tbl>
              <a:tblPr>
                <a:noFill/>
                <a:tableStyleId>{C298A04B-FCCB-42F5-947F-410B4F480092}</a:tableStyleId>
              </a:tblPr>
              <a:tblGrid>
                <a:gridCol w="3969250"/>
                <a:gridCol w="3969250"/>
              </a:tblGrid>
              <a:tr h="5327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STRONG ENTITY</a:t>
                      </a:r>
                      <a:endParaRPr lang="en-US" sz="15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WEAK ENTITY</a:t>
                      </a:r>
                      <a:endParaRPr lang="en-US" sz="15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  <a:tr h="53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Has its own Primary Key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 not have a complete Primary Key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  <a:tr h="53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Exists independently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Depends on a Strong Entity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  <a:tr h="53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Represented by a single rectangle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Represented by a double rectangle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  <a:tr h="576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uniquely by its own attributes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using a Partial Key and the owner's Primary Key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  <a:tr h="53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Student, Employee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Dependent, Order Item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525" marR="9525" marT="9525" marB="95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>
            <a:spLocks noGrp="1"/>
          </p:cNvSpPr>
          <p:nvPr>
            <p:ph type="title"/>
          </p:nvPr>
        </p:nvSpPr>
        <p:spPr>
          <a:xfrm>
            <a:off x="311700" y="5663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REAL-WORLD EXAMPLE </a:t>
            </a:r>
            <a:endParaRPr lang="en-US" dirty="0"/>
          </a:p>
        </p:txBody>
      </p:sp>
      <p:sp>
        <p:nvSpPr>
          <p:cNvPr id="229" name="Google Shape;229;p44"/>
          <p:cNvSpPr txBox="1">
            <a:spLocks noGrp="1"/>
          </p:cNvSpPr>
          <p:nvPr>
            <p:ph type="body" idx="1"/>
          </p:nvPr>
        </p:nvSpPr>
        <p:spPr>
          <a:xfrm>
            <a:off x="311700" y="433725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535" b="1" dirty="0">
                <a:latin typeface="Arial"/>
                <a:ea typeface="Arial"/>
                <a:cs typeface="Arial"/>
                <a:sym typeface="Arial"/>
              </a:rPr>
              <a:t>Bank Account and Transaction</a:t>
            </a:r>
            <a:endParaRPr sz="1535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315" b="1" dirty="0">
                <a:latin typeface="Arial"/>
                <a:ea typeface="Arial"/>
                <a:cs typeface="Arial"/>
                <a:sym typeface="Arial"/>
              </a:rPr>
              <a:t>Strong </a:t>
            </a:r>
            <a:r>
              <a:rPr lang="en" sz="1315" b="1" dirty="0" smtClean="0">
                <a:latin typeface="Arial"/>
                <a:ea typeface="Arial"/>
                <a:cs typeface="Arial"/>
                <a:sym typeface="Arial"/>
              </a:rPr>
              <a:t>Entity:</a:t>
            </a:r>
            <a:endParaRPr sz="1315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205" b="1" dirty="0">
                <a:latin typeface="Arial"/>
                <a:ea typeface="Arial"/>
                <a:cs typeface="Arial"/>
                <a:sym typeface="Arial"/>
              </a:rPr>
              <a:t>Bank Account</a:t>
            </a:r>
            <a:endParaRPr sz="120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Account_Number (Primary Key)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Account_Holder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Balance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315" b="1" dirty="0">
                <a:latin typeface="Arial"/>
                <a:ea typeface="Arial"/>
                <a:cs typeface="Arial"/>
                <a:sym typeface="Arial"/>
              </a:rPr>
              <a:t>Weak </a:t>
            </a:r>
            <a:r>
              <a:rPr lang="en" sz="1315" b="1" dirty="0" smtClean="0">
                <a:latin typeface="Arial"/>
                <a:ea typeface="Arial"/>
                <a:cs typeface="Arial"/>
                <a:sym typeface="Arial"/>
              </a:rPr>
              <a:t>Entity:</a:t>
            </a:r>
            <a:endParaRPr sz="1315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205" b="1" dirty="0">
                <a:latin typeface="Arial"/>
                <a:ea typeface="Arial"/>
                <a:cs typeface="Arial"/>
                <a:sym typeface="Arial"/>
              </a:rPr>
              <a:t>Transaction</a:t>
            </a:r>
            <a:endParaRPr sz="120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Transaction_ID </a:t>
            </a:r>
            <a:r>
              <a:rPr lang="en" sz="1205" i="1" dirty="0">
                <a:latin typeface="Arial"/>
                <a:ea typeface="Arial"/>
                <a:cs typeface="Arial"/>
                <a:sym typeface="Arial"/>
              </a:rPr>
              <a:t>(Partial Key)</a:t>
            </a:r>
            <a:endParaRPr sz="1205" i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Date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Amount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Type (Deposit/Withdrawal)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605"/>
              <a:buFont typeface="Arial"/>
              <a:buNone/>
            </a:pPr>
            <a:r>
              <a:rPr lang="en" sz="1315" b="1" dirty="0" smtClean="0">
                <a:latin typeface="Arial"/>
                <a:ea typeface="Arial"/>
                <a:cs typeface="Arial"/>
                <a:sym typeface="Arial"/>
              </a:rPr>
              <a:t>Relationship:</a:t>
            </a:r>
            <a:endParaRPr sz="1315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205" b="1" dirty="0">
                <a:latin typeface="Arial"/>
                <a:ea typeface="Arial"/>
                <a:cs typeface="Arial"/>
                <a:sym typeface="Arial"/>
              </a:rPr>
              <a:t>Bank Account</a:t>
            </a: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 has </a:t>
            </a:r>
            <a:r>
              <a:rPr lang="en" sz="1205" b="1" dirty="0">
                <a:latin typeface="Arial"/>
                <a:ea typeface="Arial"/>
                <a:cs typeface="Arial"/>
                <a:sym typeface="Arial"/>
              </a:rPr>
              <a:t>many Transactions</a:t>
            </a: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05118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5"/>
              <a:buFont typeface="Arial"/>
              <a:buChar char="●"/>
            </a:pP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205" b="1" dirty="0">
                <a:latin typeface="Arial"/>
                <a:ea typeface="Arial"/>
                <a:cs typeface="Arial"/>
                <a:sym typeface="Arial"/>
              </a:rPr>
              <a:t>Transaction cannot exist without a Bank Account</a:t>
            </a:r>
            <a:r>
              <a:rPr lang="en" sz="1205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205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endParaRPr sz="15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ADVANTAGES &amp; CONCLUSION </a:t>
            </a:r>
            <a:endParaRPr lang="en-US" dirty="0"/>
          </a:p>
        </p:txBody>
      </p:sp>
      <p:sp>
        <p:nvSpPr>
          <p:cNvPr id="235" name="Google Shape;235;p45"/>
          <p:cNvSpPr txBox="1">
            <a:spLocks noGrp="1"/>
          </p:cNvSpPr>
          <p:nvPr>
            <p:ph type="body" idx="1"/>
          </p:nvPr>
        </p:nvSpPr>
        <p:spPr>
          <a:xfrm>
            <a:off x="255858" y="1017725"/>
            <a:ext cx="8937900" cy="3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ct val="64706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Advantages: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185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34" dirty="0">
                <a:latin typeface="Arial"/>
                <a:ea typeface="Arial"/>
                <a:cs typeface="Arial"/>
                <a:sym typeface="Arial"/>
              </a:rPr>
              <a:t>Represents real-world relationships accurately.</a:t>
            </a:r>
            <a:endParaRPr sz="1734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18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34" dirty="0">
                <a:latin typeface="Arial"/>
                <a:ea typeface="Arial"/>
                <a:cs typeface="Arial"/>
                <a:sym typeface="Arial"/>
              </a:rPr>
              <a:t>Reduces data redundancy.</a:t>
            </a:r>
            <a:endParaRPr sz="1734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18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34" dirty="0">
                <a:latin typeface="Arial"/>
                <a:ea typeface="Arial"/>
                <a:cs typeface="Arial"/>
                <a:sym typeface="Arial"/>
              </a:rPr>
              <a:t>Improves database organization.</a:t>
            </a:r>
            <a:endParaRPr sz="1734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18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34" dirty="0">
                <a:latin typeface="Arial"/>
                <a:ea typeface="Arial"/>
                <a:cs typeface="Arial"/>
                <a:sym typeface="Arial"/>
              </a:rPr>
              <a:t>Ensures data integrity.</a:t>
            </a:r>
            <a:endParaRPr sz="1734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218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34" dirty="0">
                <a:latin typeface="Arial"/>
                <a:ea typeface="Arial"/>
                <a:cs typeface="Arial"/>
                <a:sym typeface="Arial"/>
              </a:rPr>
              <a:t>Supports efficient database design.</a:t>
            </a:r>
            <a:endParaRPr sz="1734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64706"/>
              <a:buFont typeface="Arial"/>
              <a:buNone/>
            </a:pPr>
            <a:r>
              <a:rPr lang="en" sz="1700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endParaRPr sz="17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215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53" dirty="0">
                <a:latin typeface="Arial"/>
                <a:ea typeface="Arial"/>
                <a:cs typeface="Arial"/>
                <a:sym typeface="Arial"/>
              </a:rPr>
              <a:t>Strong Entities have independent existence.</a:t>
            </a:r>
            <a:endParaRPr sz="1753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21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53" dirty="0">
                <a:latin typeface="Arial"/>
                <a:ea typeface="Arial"/>
                <a:cs typeface="Arial"/>
                <a:sym typeface="Arial"/>
              </a:rPr>
              <a:t>Weak Entities depend on Strong Entities.</a:t>
            </a:r>
            <a:endParaRPr sz="1753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21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53" dirty="0">
                <a:latin typeface="Arial"/>
                <a:ea typeface="Arial"/>
                <a:cs typeface="Arial"/>
                <a:sym typeface="Arial"/>
              </a:rPr>
              <a:t>Weak Entities require an Identifying Relationship and a Partial Key.</a:t>
            </a:r>
            <a:endParaRPr sz="1753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23215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753" dirty="0">
                <a:latin typeface="Arial"/>
                <a:ea typeface="Arial"/>
                <a:cs typeface="Arial"/>
                <a:sym typeface="Arial"/>
              </a:rPr>
              <a:t>Both are essential for designing accurate ER models.</a:t>
            </a:r>
            <a:endParaRPr sz="1753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6"/>
          <p:cNvSpPr txBox="1">
            <a:spLocks noGrp="1"/>
          </p:cNvSpPr>
          <p:nvPr>
            <p:ph type="body" idx="1"/>
          </p:nvPr>
        </p:nvSpPr>
        <p:spPr>
          <a:xfrm>
            <a:off x="311701" y="1164274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/>
              <a:t>THANK YOU</a:t>
            </a: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1177</Words>
  <Application>Microsoft Office PowerPoint</Application>
  <PresentationFormat>On-screen Show (16:9)</PresentationFormat>
  <Paragraphs>251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Montserrat</vt:lpstr>
      <vt:lpstr>Times New Roman</vt:lpstr>
      <vt:lpstr>Playfair Display</vt:lpstr>
      <vt:lpstr>Arial</vt:lpstr>
      <vt:lpstr>Oswald</vt:lpstr>
      <vt:lpstr>Simple Light</vt:lpstr>
      <vt:lpstr>Pop</vt:lpstr>
      <vt:lpstr>CSA0504 - DATABASE MANAGEMENT SYSTEM  CO1 - AT3 - TECHNICAL PRESENTATION </vt:lpstr>
      <vt:lpstr>QUESTIONS</vt:lpstr>
      <vt:lpstr> INTRODUCTION</vt:lpstr>
      <vt:lpstr>ER DIAGRAM</vt:lpstr>
      <vt:lpstr>COMPONENTS OF THE ER DIAGRAM</vt:lpstr>
      <vt:lpstr>ADVANTAGES &amp; CONCLUSION </vt:lpstr>
      <vt:lpstr>INTRODUCTION </vt:lpstr>
      <vt:lpstr>EER Diagram</vt:lpstr>
      <vt:lpstr>GENERALIZATION AND SPECIALIZATION </vt:lpstr>
      <vt:lpstr>ADVANTAGES &amp; CONCLUSION</vt:lpstr>
      <vt:lpstr>INTRODUCTION</vt:lpstr>
      <vt:lpstr>DBMS THREE-LEVEL ARCHITECTURE</vt:lpstr>
      <vt:lpstr>TYPES OF DATA INDEPENDENCE</vt:lpstr>
      <vt:lpstr>SIGNIFICANCE &amp; CONCLUSION</vt:lpstr>
      <vt:lpstr>INTRODUCTION </vt:lpstr>
      <vt:lpstr>DBMS SOFTWARE ARCHITECTURE </vt:lpstr>
      <vt:lpstr>COMPONENTS </vt:lpstr>
      <vt:lpstr>ADVANTAGES &amp; CONCLUSION</vt:lpstr>
      <vt:lpstr>INTRODUCTION </vt:lpstr>
      <vt:lpstr>STRONG ENTITY VS WEAK ENTITY </vt:lpstr>
      <vt:lpstr>REAL-WORLD EXAMPLE </vt:lpstr>
      <vt:lpstr>ADVANTAGES &amp; CONCLUSION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CSA0504 - DATABASE MANAGEMENT SYSTEM  CO1 - AT3 - TECHNICAL PRESENTATION</dc:title>
  <dc:creator>Admin</dc:creator>
  <cp:lastModifiedBy>Microsoft account</cp:lastModifiedBy>
  <cp:revision>11</cp:revision>
  <dcterms:modified xsi:type="dcterms:W3CDTF">2026-07-23T04:43:59Z</dcterms:modified>
</cp:coreProperties>
</file>